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3a3721-0d0d-46cc-d1da-ad5f6766f247}">
          <p14:sldIdLst>
            <p14:sldId id="256"/>
          </p14:sldIdLst>
        </p14:section>
        <p14:section name="Why" id="{ad6ce21d-a4b2-f134-a057-c7b68243ff16}">
          <p14:sldIdLst>
            <p14:sldId id="257"/>
          </p14:sldIdLst>
        </p14:section>
        <p14:section name="The solution" id="{78a2b5a7-060e-4de2-a9f5-bc27548f5b48}">
          <p14:sldIdLst>
            <p14:sldId id="258"/>
          </p14:sldIdLst>
        </p14:section>
        <p14:section name="Value" id="{34db23c2-505f-fb8e-c8d1-8beecefedd1d}">
          <p14:sldIdLst>
            <p14:sldId id="259"/>
          </p14:sldIdLst>
        </p14:section>
        <p14:section name="How it works" id="{6896719b-550f-8e54-8bb7-537553ce0456}">
          <p14:sldIdLst>
            <p14:sldId id="260"/>
            <p14:sldId id="261"/>
          </p14:sldIdLst>
        </p14:section>
        <p14:section name="Technology" id="{c68ab528-3076-17a4-9f08-3e6d1e53b21c}">
          <p14:sldIdLst>
            <p14:sldId id="262"/>
            <p14:sldId id="263"/>
          </p14:sldIdLst>
        </p14:section>
        <p14:section name="Roadmap" id="{375ba41c-55f2-cdaa-a801-47e6b85e7ba3}">
          <p14:sldIdLst>
            <p14:sldId id="264"/>
          </p14:sldIdLst>
        </p14:section>
        <p14:section name="Next steps" id="{65162f79-a1c6-1351-2293-44086904c990}">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a working, governed SailPoint source, set up with the application owner and the IAM engineer in one shared session. 'Under an hour' is the design target from the spec (SC-001: first onboarding with both people present, aggregation run time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spec's starting point: onboarding into ISC needs someone who can change the application (grant a role, service account or API key) and someone who administers the tenant. In most organisations these are different people, so the work moves through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has their own login, screen and chat box, and sees live what the other person and the agent are saying (spec story 3; target: under 2 seconds, SC-003). Application side: instructions only (FR-010). SailPoint side: the agent creates, configures, runs the connection check, aggregates and runs Test Connection on the IAM engineer's order (FR-016, FR-017).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acceptance targets in the spec, not measured results. Say so. Other targets you can mention: messages relayed between screens in under 2 s (SC-003); first words of the agent's reply in under 5 s (SC-003a); at least 4 of 5 pairs finish without consulting documentation (SC-008).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follow FR-008. The first step's label is specific to the connector type (for AWS SaaS, 'AWS role ready'). If the engineer orders creation before the application side is ready, the agent creates and configures the source, then reports that the connection check is waiting on the application steps. Messages are handled one at a time in arrival order, so ordering 'create' twice never creates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4 in the spec. The agent reads errors from screenshots too, and it checks every screenshot for visible secrets before the other person sees it (FR-026a). On the application side it never proposes changing anything that was not created for this onboarding (FR-014).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plan.md and research.md. Local cluster (namespace 'onboarding'): Angular web app, FastAPI session API (local accounts, per-session queue, secret masking, SSE fan-out, audit) and MongoDB with GridFS for screenshots. AWS: one AgentCore runtime running Claude Haiku 4.5 on Bedrock. It is stateless per turn: the API sends the turn plus session context, and the agent streams back text, progress and status. Only the session API invokes the runtime (SigV4, IAM policy scoped to that one runtime). Each tenant's ISC client credential is an AgentCore Identity OAuth2 provider; the agent gets short-lived M2M tokens. MongoDB is cluster-internal behind a NetworkPolicy.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to FR-025, FR-026, FR-026a, FR-012 and FR-020, and the plan's gates table. Accounts are local with lockout after 5 failed sign-ins and a 30-minute idle timeout (FR-004). The application owner cannot order SailPoint changes; the agent refuses them (FR-019).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ships with each release (FR-028). AWS SaaS is the proof of concept, based on the existing sailpoint-isc-aws-connector process, proven on two tenants. The planned list and its order are indicative (FR-029). Adding a type changes nothing users see in login, sessions, chat, status, history or audit (SC-009).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Prerequisites come from the spec's assumptions: an admin IAM engineer registers each tenant's SailPoint service credential before use; for AWS SaaS, the AWS organization has all features enabled. v1 is English only, desktop browsers, local accounts (no SSO). Fill in duration and price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pilot scope: which tenant, which AWS organization, and who will be the IAM engineer and the application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5720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2103120"/>
            <a:ext cx="1069848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731520" y="4023360"/>
            <a:ext cx="9601200" cy="1097280"/>
          </a:xfrm>
          <a:prstGeom prst="rect">
            <a:avLst/>
          </a:prstGeom>
          <a:noFill/>
          <a:ln/>
        </p:spPr>
        <p:txBody>
          <a:bodyPr wrap="square" rtlCol="0"/>
          <a:lstStyle>
            <a:lvl1pPr indent="0" marL="0">
              <a:buNone/>
              <a:defRPr lang="en-US" sz="1800" dirty="0">
                <a:solidFill>
                  <a:srgbClr val="D0D0CE"/>
                </a:solidFill>
              </a:defRPr>
            </a:lvl1pPr>
          </a:lstStyle>
          <a:p>
            <a:pPr indent="0" marL="0">
              <a:buNone/>
            </a:pPr>
            <a:endParaRPr lang="en-US" sz="1800" dirty="0"/>
          </a:p>
        </p:txBody>
      </p:sp>
      <p:sp>
        <p:nvSpPr>
          <p:cNvPr id="5" name="Text 0"/>
          <p:cNvSpPr/>
          <p:nvPr>
            <p:ph idx="103" type="body" hasCustomPrompt="1"/>
          </p:nvPr>
        </p:nvSpPr>
        <p:spPr>
          <a:xfrm>
            <a:off x="731520" y="5852160"/>
            <a:ext cx="10698480" cy="365760"/>
          </a:xfrm>
          <a:prstGeom prst="rect">
            <a:avLst/>
          </a:prstGeom>
          <a:noFill/>
          <a:ln/>
        </p:spPr>
        <p:txBody>
          <a:bodyPr wrap="square" rtlCol="0"/>
          <a:lstStyle>
            <a:lvl1pPr indent="0" marL="0">
              <a:buNone/>
              <a:defRPr lang="en-US" sz="1200" dirty="0">
                <a:solidFill>
                  <a:srgbClr val="A7A8AA"/>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SailPoint ISC Application Onboarding Agent</a:t>
            </a:r>
            <a:endParaRPr lang="en-US" sz="1000" dirty="0"/>
          </a:p>
        </p:txBody>
      </p:sp>
      <p:sp>
        <p:nvSpPr>
          <p:cNvPr id="3" name="Text 1"/>
          <p:cNvSpPr/>
          <p:nvPr>
            <p:ph idx="102" type="title" hasCustomPrompt="1"/>
          </p:nvPr>
        </p:nvSpPr>
        <p:spPr>
          <a:xfrm>
            <a:off x="914400" y="347472"/>
            <a:ext cx="10698480" cy="6858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4" name="Text 1"/>
          <p:cNvSpPr/>
          <p:nvPr>
            <p:ph idx="103" type="body" hasCustomPrompt="1"/>
          </p:nvPr>
        </p:nvSpPr>
        <p:spPr>
          <a:xfrm>
            <a:off x="914400" y="1024128"/>
            <a:ext cx="10698480" cy="45720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57200"/>
          </a:xfrm>
          <a:prstGeom prst="rect">
            <a:avLst/>
          </a:prstGeom>
          <a:noFill/>
          <a:ln/>
        </p:spPr>
        <p:txBody>
          <a:bodyPr wrap="square" lIns="0" tIns="0" rIns="0" bIns="0" rtlCol="0"/>
          <a:lstStyle/>
          <a:p>
            <a:pPr indent="0" marL="0">
              <a:buNone/>
            </a:pPr>
            <a:r>
              <a:rPr lang="en-US" sz="1600" b="1" dirty="0">
                <a:solidFill>
                  <a:schemeClr val="accent1"/>
                </a:solidFill>
              </a:rPr>
              <a:t>SailPoint Identity Security Cloud  ·  AI onboarding agent</a:t>
            </a:r>
            <a:endParaRPr lang="en-US" sz="1600" dirty="0"/>
          </a:p>
        </p:txBody>
      </p:sp>
      <p:sp>
        <p:nvSpPr>
          <p:cNvPr id="3" name="Text 0"/>
          <p:cNvSpPr/>
          <p:nvPr>
            <p:ph idx="101" type="title" hasCustomPrompt="1"/>
          </p:nvPr>
        </p:nvSpPr>
        <p:spPr>
          <a:xfrm>
            <a:off x="731520" y="2103120"/>
            <a:ext cx="10698480" cy="1737360"/>
          </a:xfrm>
          <a:prstGeom prst="rect">
            <a:avLst/>
          </a:prstGeom>
          <a:noFill/>
          <a:ln/>
        </p:spPr>
        <p:txBody>
          <a:bodyPr wrap="square" lIns="0" tIns="0" rIns="0" bIns="0" rtlCol="0" anchor="t"/>
          <a:lstStyle/>
          <a:p>
            <a:pPr indent="0" marL="0">
              <a:buNone/>
            </a:pPr>
            <a:r>
              <a:rPr lang="en-US" sz="4400" b="1" dirty="0">
                <a:solidFill>
                  <a:schemeClr val="bg1"/>
                </a:solidFill>
              </a:rPr>
              <a:t>Onboard applications into SailPoint in under an hour</a:t>
            </a:r>
            <a:endParaRPr lang="en-US" sz="4400" dirty="0"/>
          </a:p>
        </p:txBody>
      </p:sp>
      <p:sp>
        <p:nvSpPr>
          <p:cNvPr id="4" name="Text 0"/>
          <p:cNvSpPr/>
          <p:nvPr>
            <p:ph idx="102" type="body" hasCustomPrompt="1"/>
          </p:nvPr>
        </p:nvSpPr>
        <p:spPr>
          <a:xfrm>
            <a:off x="731520" y="4023360"/>
            <a:ext cx="9601200" cy="1097280"/>
          </a:xfrm>
          <a:prstGeom prst="rect">
            <a:avLst/>
          </a:prstGeom>
          <a:noFill/>
          <a:ln/>
        </p:spPr>
        <p:txBody>
          <a:bodyPr wrap="square" lIns="0" tIns="0" rIns="0" bIns="0" rtlCol="0" anchor="t"/>
          <a:lstStyle/>
          <a:p>
            <a:pPr indent="0" marL="0">
              <a:buNone/>
            </a:pPr>
            <a:r>
              <a:rPr lang="en-US" sz="1800" dirty="0">
                <a:solidFill>
                  <a:srgbClr val="D0D0CE"/>
                </a:solidFill>
              </a:rPr>
              <a:t>Two people, one live session, and an AI agent that does the SailPoint work without ever touching your application.</a:t>
            </a:r>
            <a:endParaRPr lang="en-US" sz="1800" dirty="0"/>
          </a:p>
        </p:txBody>
      </p:sp>
      <p:sp>
        <p:nvSpPr>
          <p:cNvPr id="5" name="Text 0"/>
          <p:cNvSpPr/>
          <p:nvPr>
            <p:ph idx="103" type="body" hasCustomPrompt="1"/>
          </p:nvPr>
        </p:nvSpPr>
        <p:spPr>
          <a:xfrm>
            <a:off x="731520" y="5852160"/>
            <a:ext cx="10698480" cy="365760"/>
          </a:xfrm>
          <a:prstGeom prst="rect">
            <a:avLst/>
          </a:prstGeom>
          <a:noFill/>
          <a:ln/>
        </p:spPr>
        <p:txBody>
          <a:bodyPr wrap="square" lIns="0" tIns="0" rIns="0" bIns="0" rtlCol="0"/>
          <a:lstStyle/>
          <a:p>
            <a:pPr indent="0" marL="0">
              <a:buNone/>
            </a:pPr>
            <a:r>
              <a:rPr lang="en-US" sz="1200" dirty="0">
                <a:solidFill>
                  <a:srgbClr val="A7A8AA"/>
                </a:solidFill>
              </a:rPr>
              <a:t>[CLIENT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Onboarding stalls between two teams</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Every application needs one person who can change it and another who runs SailPoint. Today they meet over email.</a:t>
            </a:r>
            <a:endParaRPr lang="en-US" sz="1600" dirty="0"/>
          </a:p>
        </p:txBody>
      </p:sp>
      <p:sp>
        <p:nvSpPr>
          <p:cNvPr id="4" name="Application owner"/>
          <p:cNvSpPr/>
          <p:nvPr/>
        </p:nvSpPr>
        <p:spPr>
          <a:xfrm>
            <a:off x="548640" y="2011680"/>
            <a:ext cx="2377440" cy="1737360"/>
          </a:xfrm>
          <a:prstGeom prst="roundRect">
            <a:avLst>
              <a:gd name="adj" fmla="val 4211"/>
            </a:avLst>
          </a:prstGeom>
          <a:solidFill>
            <a:srgbClr val="F2F8FC"/>
          </a:solidFill>
          <a:ln/>
        </p:spPr>
        <p:txBody>
          <a:bodyPr wrap="square" lIns="76200" tIns="76200" rIns="76200" bIns="76200" rtlCol="0" anchor="ctr"/>
          <a:lstStyle/>
          <a:p>
            <a:pPr algn="ctr" indent="0" marL="0">
              <a:spcAft>
                <a:spcPts val="200"/>
              </a:spcAft>
              <a:buNone/>
            </a:pPr>
            <a:r>
              <a:rPr lang="en-US" sz="1400" b="1" dirty="0">
                <a:solidFill>
                  <a:srgbClr val="005587"/>
                </a:solidFill>
              </a:rPr>
              <a:t>Application owner</a:t>
            </a:r>
            <a:endParaRPr lang="en-US" sz="1400" dirty="0"/>
          </a:p>
          <a:p>
            <a:pPr algn="ctr" indent="0" marL="0">
              <a:spcAft>
                <a:spcPts val="200"/>
              </a:spcAft>
              <a:buNone/>
            </a:pPr>
            <a:r>
              <a:rPr lang="en-US" sz="1300" dirty="0">
                <a:solidFill>
                  <a:schemeClr val="tx2"/>
                </a:solidFill>
              </a:rPr>
              <a:t>Can change the application.</a:t>
            </a:r>
            <a:endParaRPr lang="en-US" sz="1400" dirty="0"/>
          </a:p>
          <a:p>
            <a:pPr algn="ctr" indent="0" marL="0">
              <a:spcAft>
                <a:spcPts val="200"/>
              </a:spcAft>
              <a:buNone/>
            </a:pPr>
            <a:r>
              <a:rPr lang="en-US" sz="1300" dirty="0">
                <a:solidFill>
                  <a:schemeClr val="tx2"/>
                </a:solidFill>
              </a:rPr>
              <a:t>Can't touch SailPoint.</a:t>
            </a:r>
            <a:endParaRPr lang="en-US" sz="1400" dirty="0"/>
          </a:p>
        </p:txBody>
      </p:sp>
      <p:sp>
        <p:nvSpPr>
          <p:cNvPr id="5" name="IAM engineer"/>
          <p:cNvSpPr/>
          <p:nvPr/>
        </p:nvSpPr>
        <p:spPr>
          <a:xfrm>
            <a:off x="3474720" y="2011680"/>
            <a:ext cx="2377440" cy="1737360"/>
          </a:xfrm>
          <a:prstGeom prst="roundRect">
            <a:avLst>
              <a:gd name="adj" fmla="val 4211"/>
            </a:avLst>
          </a:prstGeom>
          <a:solidFill>
            <a:schemeClr val="bg2"/>
          </a:solidFill>
          <a:ln/>
        </p:spPr>
        <p:txBody>
          <a:bodyPr wrap="square" lIns="76200" tIns="76200" rIns="76200" bIns="76200" rtlCol="0" anchor="ctr"/>
          <a:lstStyle/>
          <a:p>
            <a:pPr algn="ctr" indent="0" marL="0">
              <a:spcAft>
                <a:spcPts val="200"/>
              </a:spcAft>
              <a:buNone/>
            </a:pPr>
            <a:r>
              <a:rPr lang="en-US" sz="1400" b="1" dirty="0">
                <a:solidFill>
                  <a:schemeClr val="tx1"/>
                </a:solidFill>
              </a:rPr>
              <a:t>IAM engineer</a:t>
            </a:r>
            <a:endParaRPr lang="en-US" sz="1400" dirty="0"/>
          </a:p>
          <a:p>
            <a:pPr algn="ctr" indent="0" marL="0">
              <a:spcAft>
                <a:spcPts val="200"/>
              </a:spcAft>
              <a:buNone/>
            </a:pPr>
            <a:r>
              <a:rPr lang="en-US" sz="1300" dirty="0">
                <a:solidFill>
                  <a:schemeClr val="tx2"/>
                </a:solidFill>
              </a:rPr>
              <a:t>Runs SailPoint.</a:t>
            </a:r>
            <a:endParaRPr lang="en-US" sz="1400" dirty="0"/>
          </a:p>
          <a:p>
            <a:pPr algn="ctr" indent="0" marL="0">
              <a:spcAft>
                <a:spcPts val="200"/>
              </a:spcAft>
              <a:buNone/>
            </a:pPr>
            <a:r>
              <a:rPr lang="en-US" sz="1300" dirty="0">
                <a:solidFill>
                  <a:schemeClr val="tx2"/>
                </a:solidFill>
              </a:rPr>
              <a:t>Can't touch the application.</a:t>
            </a:r>
            <a:endParaRPr lang="en-US" sz="1400" dirty="0"/>
          </a:p>
        </p:txBody>
      </p:sp>
      <p:sp>
        <p:nvSpPr>
          <p:cNvPr id="6" name="Shape 4"/>
          <p:cNvSpPr/>
          <p:nvPr/>
        </p:nvSpPr>
        <p:spPr>
          <a:xfrm>
            <a:off x="2926080" y="2880360"/>
            <a:ext cx="548640" cy="0"/>
          </a:xfrm>
          <a:prstGeom prst="line">
            <a:avLst/>
          </a:prstGeom>
          <a:noFill/>
          <a:ln w="19050">
            <a:solidFill>
              <a:schemeClr val="accent6"/>
            </a:solidFill>
            <a:prstDash val="dash"/>
          </a:ln>
        </p:spPr>
      </p:sp>
      <p:sp>
        <p:nvSpPr>
          <p:cNvPr id="7" name="Text 5"/>
          <p:cNvSpPr txBox="1"/>
          <p:nvPr/>
        </p:nvSpPr>
        <p:spPr>
          <a:xfrm>
            <a:off x="2926080" y="2514600"/>
            <a:ext cx="548640" cy="274320"/>
          </a:xfrm>
          <a:prstGeom prst="rect">
            <a:avLst/>
          </a:prstGeom>
          <a:noFill/>
          <a:ln/>
        </p:spPr>
        <p:txBody>
          <a:bodyPr wrap="square" lIns="0" tIns="0" rIns="0" bIns="0" rtlCol="0" anchor="ctr"/>
          <a:lstStyle/>
          <a:p>
            <a:pPr algn="ctr" indent="0" marL="0">
              <a:buNone/>
            </a:pPr>
            <a:r>
              <a:rPr lang="en-US" sz="1000" dirty="0">
                <a:solidFill>
                  <a:schemeClr val="accent6"/>
                </a:solidFill>
              </a:rPr>
              <a:t>hand-offs</a:t>
            </a:r>
            <a:endParaRPr lang="en-US" sz="1000" dirty="0"/>
          </a:p>
        </p:txBody>
      </p:sp>
      <p:sp>
        <p:nvSpPr>
          <p:cNvPr id="8" name="Text 6"/>
          <p:cNvSpPr txBox="1"/>
          <p:nvPr/>
        </p:nvSpPr>
        <p:spPr>
          <a:xfrm>
            <a:off x="548640" y="4114800"/>
            <a:ext cx="5303520" cy="1097280"/>
          </a:xfrm>
          <a:prstGeom prst="rect">
            <a:avLst/>
          </a:prstGeom>
          <a:noFill/>
          <a:ln/>
        </p:spPr>
        <p:txBody>
          <a:bodyPr wrap="square" lIns="0" tIns="0" rIns="0" bIns="0" rtlCol="0" anchor="t"/>
          <a:lstStyle/>
          <a:p>
            <a:pPr indent="0" marL="0">
              <a:buNone/>
            </a:pPr>
            <a:r>
              <a:rPr lang="en-US" sz="1600" i="1" dirty="0">
                <a:solidFill>
                  <a:schemeClr val="tx2"/>
                </a:solidFill>
              </a:rPr>
              <a:t>Each value, such as an External ID, a role name or an account ID, crosses between them by hand, and mistakes show up late.</a:t>
            </a:r>
            <a:endParaRPr lang="en-US" sz="1600" dirty="0"/>
          </a:p>
        </p:txBody>
      </p:sp>
      <p:sp>
        <p:nvSpPr>
          <p:cNvPr id="9" name="Marker 1"/>
          <p:cNvSpPr/>
          <p:nvPr/>
        </p:nvSpPr>
        <p:spPr>
          <a:xfrm>
            <a:off x="6400800" y="1965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0" name="Text 8"/>
          <p:cNvSpPr txBox="1"/>
          <p:nvPr/>
        </p:nvSpPr>
        <p:spPr>
          <a:xfrm>
            <a:off x="7086600" y="1920240"/>
            <a:ext cx="4572000" cy="8686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Hand-offs by email and ticket</a:t>
            </a:r>
            <a:endParaRPr lang="en-US" sz="1600" dirty="0"/>
          </a:p>
          <a:p>
            <a:pPr indent="0" marL="0">
              <a:spcAft>
                <a:spcPts val="200"/>
              </a:spcAft>
              <a:buNone/>
            </a:pPr>
            <a:r>
              <a:rPr lang="en-US" sz="1400" dirty="0">
                <a:solidFill>
                  <a:schemeClr val="tx2"/>
                </a:solidFill>
              </a:rPr>
              <a:t>Each step waits for the other person to read, act and reply.</a:t>
            </a:r>
            <a:endParaRPr lang="en-US" sz="1600" dirty="0"/>
          </a:p>
        </p:txBody>
      </p:sp>
      <p:sp>
        <p:nvSpPr>
          <p:cNvPr id="11" name="Marker 2"/>
          <p:cNvSpPr/>
          <p:nvPr/>
        </p:nvSpPr>
        <p:spPr>
          <a:xfrm>
            <a:off x="6400800" y="3017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7086600" y="2971800"/>
            <a:ext cx="4572000" cy="8686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Values copied by hand</a:t>
            </a:r>
            <a:endParaRPr lang="en-US" sz="1600" dirty="0"/>
          </a:p>
          <a:p>
            <a:pPr indent="0" marL="0">
              <a:spcAft>
                <a:spcPts val="200"/>
              </a:spcAft>
              <a:buNone/>
            </a:pPr>
            <a:r>
              <a:rPr lang="en-US" sz="1400" dirty="0">
                <a:solidFill>
                  <a:schemeClr val="tx2"/>
                </a:solidFill>
              </a:rPr>
              <a:t>External IDs, role names and account IDs are retyped between teams.</a:t>
            </a:r>
            <a:endParaRPr lang="en-US" sz="1600" dirty="0"/>
          </a:p>
        </p:txBody>
      </p:sp>
      <p:sp>
        <p:nvSpPr>
          <p:cNvPr id="13" name="Marker 3"/>
          <p:cNvSpPr/>
          <p:nvPr/>
        </p:nvSpPr>
        <p:spPr>
          <a:xfrm>
            <a:off x="6400800" y="40690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4" name="Text 12"/>
          <p:cNvSpPr txBox="1"/>
          <p:nvPr/>
        </p:nvSpPr>
        <p:spPr>
          <a:xfrm>
            <a:off x="7086600" y="4023360"/>
            <a:ext cx="4572000" cy="8686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Errors found late</a:t>
            </a:r>
            <a:endParaRPr lang="en-US" sz="1600" dirty="0"/>
          </a:p>
          <a:p>
            <a:pPr indent="0" marL="0">
              <a:spcAft>
                <a:spcPts val="200"/>
              </a:spcAft>
              <a:buNone/>
            </a:pPr>
            <a:r>
              <a:rPr lang="en-US" sz="1400" dirty="0">
                <a:solidFill>
                  <a:schemeClr val="tx2"/>
                </a:solidFill>
              </a:rPr>
              <a:t>Mistakes surface only at the connection check or aggregation.</a:t>
            </a:r>
            <a:endParaRPr lang="en-US" sz="1600" dirty="0"/>
          </a:p>
        </p:txBody>
      </p:sp>
      <p:sp>
        <p:nvSpPr>
          <p:cNvPr id="15" name="Marker 4"/>
          <p:cNvSpPr/>
          <p:nvPr/>
        </p:nvSpPr>
        <p:spPr>
          <a:xfrm>
            <a:off x="6400800" y="51206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6" name="Text 14"/>
          <p:cNvSpPr txBox="1"/>
          <p:nvPr/>
        </p:nvSpPr>
        <p:spPr>
          <a:xfrm>
            <a:off x="7086600" y="5074920"/>
            <a:ext cx="4572000" cy="8686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No shared record</a:t>
            </a:r>
            <a:endParaRPr lang="en-US" sz="1600" dirty="0"/>
          </a:p>
          <a:p>
            <a:pPr indent="0" marL="0">
              <a:spcAft>
                <a:spcPts val="200"/>
              </a:spcAft>
              <a:buNone/>
            </a:pPr>
            <a:r>
              <a:rPr lang="en-US" sz="1400" dirty="0">
                <a:solidFill>
                  <a:schemeClr val="tx2"/>
                </a:solidFill>
              </a:rPr>
              <a:t>Who changed what, and why, is spread across inboxes.</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One live session, one agent, two people</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The agent tells the application owner what to do, and acts in SailPoint when the IAM engineer orders it.</a:t>
            </a:r>
            <a:endParaRPr lang="en-US" sz="1600" dirty="0"/>
          </a:p>
        </p:txBody>
      </p:sp>
      <p:sp>
        <p:nvSpPr>
          <p:cNvPr id="4" name="Application owner"/>
          <p:cNvSpPr/>
          <p:nvPr/>
        </p:nvSpPr>
        <p:spPr>
          <a:xfrm>
            <a:off x="548640" y="2011680"/>
            <a:ext cx="2560320" cy="1005840"/>
          </a:xfrm>
          <a:prstGeom prst="roundRect">
            <a:avLst>
              <a:gd name="adj" fmla="val 7273"/>
            </a:avLst>
          </a:prstGeom>
          <a:solidFill>
            <a:srgbClr val="F2F8FC"/>
          </a:solidFill>
          <a:ln/>
        </p:spPr>
        <p:txBody>
          <a:bodyPr wrap="square" lIns="76200" tIns="76200" rIns="76200" bIns="76200" rtlCol="0" anchor="ctr"/>
          <a:lstStyle/>
          <a:p>
            <a:pPr algn="ctr" indent="0" marL="0">
              <a:spcAft>
                <a:spcPts val="200"/>
              </a:spcAft>
              <a:buNone/>
            </a:pPr>
            <a:r>
              <a:rPr lang="en-US" sz="1600" b="1" dirty="0">
                <a:solidFill>
                  <a:srgbClr val="005587"/>
                </a:solidFill>
              </a:rPr>
              <a:t>Application owner</a:t>
            </a:r>
            <a:endParaRPr lang="en-US" sz="1600" dirty="0"/>
          </a:p>
          <a:p>
            <a:pPr algn="ctr" indent="0" marL="0">
              <a:spcAft>
                <a:spcPts val="200"/>
              </a:spcAft>
              <a:buNone/>
            </a:pPr>
            <a:r>
              <a:rPr lang="en-US" sz="1200" dirty="0">
                <a:solidFill>
                  <a:schemeClr val="tx2"/>
                </a:solidFill>
              </a:rPr>
              <a:t>own login and screen</a:t>
            </a:r>
            <a:endParaRPr lang="en-US" sz="1600" dirty="0"/>
          </a:p>
        </p:txBody>
      </p:sp>
      <p:sp>
        <p:nvSpPr>
          <p:cNvPr id="5" name="AI onboarding agent"/>
          <p:cNvSpPr/>
          <p:nvPr/>
        </p:nvSpPr>
        <p:spPr>
          <a:xfrm>
            <a:off x="4727448" y="2011680"/>
            <a:ext cx="2743200" cy="1005840"/>
          </a:xfrm>
          <a:prstGeom prst="roundRect">
            <a:avLst>
              <a:gd name="adj" fmla="val 7273"/>
            </a:avLst>
          </a:prstGeom>
          <a:solidFill>
            <a:schemeClr val="tx1"/>
          </a:solidFill>
          <a:ln/>
        </p:spPr>
        <p:txBody>
          <a:bodyPr wrap="square" lIns="76200" tIns="76200" rIns="76200" bIns="76200" rtlCol="0" anchor="ctr"/>
          <a:lstStyle/>
          <a:p>
            <a:pPr algn="ctr" indent="0" marL="0">
              <a:spcAft>
                <a:spcPts val="200"/>
              </a:spcAft>
              <a:buNone/>
            </a:pPr>
            <a:r>
              <a:rPr lang="en-US" sz="1600" b="1" dirty="0">
                <a:solidFill>
                  <a:schemeClr val="bg1"/>
                </a:solidFill>
              </a:rPr>
              <a:t>AI onboarding agent</a:t>
            </a:r>
            <a:endParaRPr lang="en-US" sz="1600" dirty="0"/>
          </a:p>
          <a:p>
            <a:pPr algn="ctr" indent="0" marL="0">
              <a:spcAft>
                <a:spcPts val="200"/>
              </a:spcAft>
              <a:buNone/>
            </a:pPr>
            <a:r>
              <a:rPr lang="en-US" sz="1200" dirty="0">
                <a:solidFill>
                  <a:srgbClr val="D0D0CE"/>
                </a:solidFill>
              </a:rPr>
              <a:t>Claude on AWS Bedrock AgentCore</a:t>
            </a:r>
            <a:endParaRPr lang="en-US" sz="1600" dirty="0"/>
          </a:p>
        </p:txBody>
      </p:sp>
      <p:sp>
        <p:nvSpPr>
          <p:cNvPr id="6" name="IAM engineer"/>
          <p:cNvSpPr/>
          <p:nvPr/>
        </p:nvSpPr>
        <p:spPr>
          <a:xfrm>
            <a:off x="9079992" y="2011680"/>
            <a:ext cx="2560320" cy="1005840"/>
          </a:xfrm>
          <a:prstGeom prst="roundRect">
            <a:avLst>
              <a:gd name="adj" fmla="val 7273"/>
            </a:avLst>
          </a:prstGeom>
          <a:solidFill>
            <a:schemeClr val="bg2"/>
          </a:solidFill>
          <a:ln/>
        </p:spPr>
        <p:txBody>
          <a:bodyPr wrap="square" lIns="76200" tIns="76200" rIns="76200" bIns="76200" rtlCol="0" anchor="ctr"/>
          <a:lstStyle/>
          <a:p>
            <a:pPr algn="ctr" indent="0" marL="0">
              <a:spcAft>
                <a:spcPts val="200"/>
              </a:spcAft>
              <a:buNone/>
            </a:pPr>
            <a:r>
              <a:rPr lang="en-US" sz="1600" b="1" dirty="0">
                <a:solidFill>
                  <a:schemeClr val="tx1"/>
                </a:solidFill>
              </a:rPr>
              <a:t>IAM engineer</a:t>
            </a:r>
            <a:endParaRPr lang="en-US" sz="1600" dirty="0"/>
          </a:p>
          <a:p>
            <a:pPr algn="ctr" indent="0" marL="0">
              <a:spcAft>
                <a:spcPts val="200"/>
              </a:spcAft>
              <a:buNone/>
            </a:pPr>
            <a:r>
              <a:rPr lang="en-US" sz="1200" dirty="0">
                <a:solidFill>
                  <a:schemeClr val="tx2"/>
                </a:solidFill>
              </a:rPr>
              <a:t>own login and screen</a:t>
            </a:r>
            <a:endParaRPr lang="en-US" sz="1600" dirty="0"/>
          </a:p>
        </p:txBody>
      </p:sp>
      <p:sp>
        <p:nvSpPr>
          <p:cNvPr id="7" name="Shape 5"/>
          <p:cNvSpPr/>
          <p:nvPr/>
        </p:nvSpPr>
        <p:spPr>
          <a:xfrm flipH="1">
            <a:off x="3108960" y="2286000"/>
            <a:ext cx="1618488" cy="0"/>
          </a:xfrm>
          <a:prstGeom prst="line">
            <a:avLst/>
          </a:prstGeom>
          <a:noFill/>
          <a:ln w="19050">
            <a:solidFill>
              <a:schemeClr val="accent6"/>
            </a:solidFill>
            <a:prstDash val="solid"/>
            <a:tailEnd type="triangle"/>
          </a:ln>
        </p:spPr>
      </p:sp>
      <p:sp>
        <p:nvSpPr>
          <p:cNvPr id="8" name="Text 6"/>
          <p:cNvSpPr txBox="1"/>
          <p:nvPr/>
        </p:nvSpPr>
        <p:spPr>
          <a:xfrm>
            <a:off x="3108960" y="1938528"/>
            <a:ext cx="1618488" cy="274320"/>
          </a:xfrm>
          <a:prstGeom prst="rect">
            <a:avLst/>
          </a:prstGeom>
          <a:noFill/>
          <a:ln/>
        </p:spPr>
        <p:txBody>
          <a:bodyPr wrap="square" lIns="0" tIns="0" rIns="0" bIns="0" rtlCol="0" anchor="ctr"/>
          <a:lstStyle/>
          <a:p>
            <a:pPr algn="ctr" indent="0" marL="0">
              <a:buNone/>
            </a:pPr>
            <a:r>
              <a:rPr lang="en-US" sz="1100" dirty="0">
                <a:solidFill>
                  <a:schemeClr val="accent6"/>
                </a:solidFill>
              </a:rPr>
              <a:t>copy-ready steps</a:t>
            </a:r>
            <a:endParaRPr lang="en-US" sz="1100" dirty="0"/>
          </a:p>
        </p:txBody>
      </p:sp>
      <p:sp>
        <p:nvSpPr>
          <p:cNvPr id="9" name="Shape 7"/>
          <p:cNvSpPr/>
          <p:nvPr/>
        </p:nvSpPr>
        <p:spPr>
          <a:xfrm>
            <a:off x="3108960" y="2743200"/>
            <a:ext cx="1618488" cy="0"/>
          </a:xfrm>
          <a:prstGeom prst="line">
            <a:avLst/>
          </a:prstGeom>
          <a:noFill/>
          <a:ln w="19050">
            <a:solidFill>
              <a:schemeClr val="accent6"/>
            </a:solidFill>
            <a:prstDash val="solid"/>
            <a:tailEnd type="triangle"/>
          </a:ln>
        </p:spPr>
      </p:sp>
      <p:sp>
        <p:nvSpPr>
          <p:cNvPr id="10" name="Text 8"/>
          <p:cNvSpPr txBox="1"/>
          <p:nvPr/>
        </p:nvSpPr>
        <p:spPr>
          <a:xfrm>
            <a:off x="3108960" y="2807208"/>
            <a:ext cx="1618488" cy="274320"/>
          </a:xfrm>
          <a:prstGeom prst="rect">
            <a:avLst/>
          </a:prstGeom>
          <a:noFill/>
          <a:ln/>
        </p:spPr>
        <p:txBody>
          <a:bodyPr wrap="square" lIns="0" tIns="0" rIns="0" bIns="0" rtlCol="0" anchor="ctr"/>
          <a:lstStyle/>
          <a:p>
            <a:pPr algn="ctr" indent="0" marL="0">
              <a:buNone/>
            </a:pPr>
            <a:r>
              <a:rPr lang="en-US" sz="1100" dirty="0">
                <a:solidFill>
                  <a:schemeClr val="accent6"/>
                </a:solidFill>
              </a:rPr>
              <a:t>output, screenshots</a:t>
            </a:r>
            <a:endParaRPr lang="en-US" sz="1100" dirty="0"/>
          </a:p>
        </p:txBody>
      </p:sp>
      <p:sp>
        <p:nvSpPr>
          <p:cNvPr id="11" name="Shape 9"/>
          <p:cNvSpPr/>
          <p:nvPr/>
        </p:nvSpPr>
        <p:spPr>
          <a:xfrm flipH="1">
            <a:off x="7470648" y="2286000"/>
            <a:ext cx="1609344" cy="0"/>
          </a:xfrm>
          <a:prstGeom prst="line">
            <a:avLst/>
          </a:prstGeom>
          <a:noFill/>
          <a:ln w="19050">
            <a:solidFill>
              <a:schemeClr val="accent6"/>
            </a:solidFill>
            <a:prstDash val="solid"/>
            <a:tailEnd type="triangle"/>
          </a:ln>
        </p:spPr>
      </p:sp>
      <p:sp>
        <p:nvSpPr>
          <p:cNvPr id="12" name="Text 10"/>
          <p:cNvSpPr txBox="1"/>
          <p:nvPr/>
        </p:nvSpPr>
        <p:spPr>
          <a:xfrm>
            <a:off x="7470648" y="1938528"/>
            <a:ext cx="1609344" cy="274320"/>
          </a:xfrm>
          <a:prstGeom prst="rect">
            <a:avLst/>
          </a:prstGeom>
          <a:noFill/>
          <a:ln/>
        </p:spPr>
        <p:txBody>
          <a:bodyPr wrap="square" lIns="0" tIns="0" rIns="0" bIns="0" rtlCol="0" anchor="ctr"/>
          <a:lstStyle/>
          <a:p>
            <a:pPr algn="ctr" indent="0" marL="0">
              <a:buNone/>
            </a:pPr>
            <a:r>
              <a:rPr lang="en-US" sz="1100" dirty="0">
                <a:solidFill>
                  <a:schemeClr val="accent6"/>
                </a:solidFill>
              </a:rPr>
              <a:t>orders the change</a:t>
            </a:r>
            <a:endParaRPr lang="en-US" sz="1100" dirty="0"/>
          </a:p>
        </p:txBody>
      </p:sp>
      <p:sp>
        <p:nvSpPr>
          <p:cNvPr id="13" name="Shape 11"/>
          <p:cNvSpPr/>
          <p:nvPr/>
        </p:nvSpPr>
        <p:spPr>
          <a:xfrm>
            <a:off x="7470648" y="2743200"/>
            <a:ext cx="1609344" cy="0"/>
          </a:xfrm>
          <a:prstGeom prst="line">
            <a:avLst/>
          </a:prstGeom>
          <a:noFill/>
          <a:ln w="19050">
            <a:solidFill>
              <a:schemeClr val="accent6"/>
            </a:solidFill>
            <a:prstDash val="solid"/>
            <a:tailEnd type="triangle"/>
          </a:ln>
        </p:spPr>
      </p:sp>
      <p:sp>
        <p:nvSpPr>
          <p:cNvPr id="14" name="Text 12"/>
          <p:cNvSpPr txBox="1"/>
          <p:nvPr/>
        </p:nvSpPr>
        <p:spPr>
          <a:xfrm>
            <a:off x="7470648" y="2807208"/>
            <a:ext cx="1609344" cy="274320"/>
          </a:xfrm>
          <a:prstGeom prst="rect">
            <a:avLst/>
          </a:prstGeom>
          <a:noFill/>
          <a:ln/>
        </p:spPr>
        <p:txBody>
          <a:bodyPr wrap="square" lIns="0" tIns="0" rIns="0" bIns="0" rtlCol="0" anchor="ctr"/>
          <a:lstStyle/>
          <a:p>
            <a:pPr algn="ctr" indent="0" marL="0">
              <a:buNone/>
            </a:pPr>
            <a:r>
              <a:rPr lang="en-US" sz="1100" dirty="0">
                <a:solidFill>
                  <a:schemeClr val="accent6"/>
                </a:solidFill>
              </a:rPr>
              <a:t>results, diagnosis</a:t>
            </a:r>
            <a:endParaRPr lang="en-US" sz="1100" dirty="0"/>
          </a:p>
        </p:txBody>
      </p:sp>
      <p:sp>
        <p:nvSpPr>
          <p:cNvPr id="15" name="Your application"/>
          <p:cNvSpPr/>
          <p:nvPr/>
        </p:nvSpPr>
        <p:spPr>
          <a:xfrm>
            <a:off x="548640" y="4206240"/>
            <a:ext cx="2560320" cy="914400"/>
          </a:xfrm>
          <a:prstGeom prst="roundRect">
            <a:avLst>
              <a:gd name="adj" fmla="val 8000"/>
            </a:avLst>
          </a:prstGeom>
          <a:solidFill>
            <a:schemeClr val="bg1"/>
          </a:solidFill>
          <a:ln w="12700">
            <a:solidFill>
              <a:srgbClr val="D0D0CE"/>
            </a:solidFill>
            <a:prstDash val="dash"/>
          </a:ln>
        </p:spPr>
        <p:txBody>
          <a:bodyPr wrap="square" lIns="76200" tIns="76200" rIns="76200" bIns="76200" rtlCol="0" anchor="ctr"/>
          <a:lstStyle/>
          <a:p>
            <a:pPr algn="ctr" indent="0" marL="0">
              <a:spcAft>
                <a:spcPts val="200"/>
              </a:spcAft>
              <a:buNone/>
            </a:pPr>
            <a:r>
              <a:rPr lang="en-US" sz="1400" b="1" dirty="0">
                <a:solidFill>
                  <a:schemeClr val="tx1"/>
                </a:solidFill>
              </a:rPr>
              <a:t>Your application</a:t>
            </a:r>
            <a:endParaRPr lang="en-US" sz="1400" dirty="0"/>
          </a:p>
          <a:p>
            <a:pPr algn="ctr" indent="0" marL="0">
              <a:spcAft>
                <a:spcPts val="200"/>
              </a:spcAft>
              <a:buNone/>
            </a:pPr>
            <a:r>
              <a:rPr lang="en-US" sz="1200" dirty="0">
                <a:solidFill>
                  <a:schemeClr val="tx2"/>
                </a:solidFill>
              </a:rPr>
              <a:t>e.g. an AWS organization</a:t>
            </a:r>
            <a:endParaRPr lang="en-US" sz="1400" dirty="0"/>
          </a:p>
        </p:txBody>
      </p:sp>
      <p:sp>
        <p:nvSpPr>
          <p:cNvPr id="16" name="Shape 14"/>
          <p:cNvSpPr/>
          <p:nvPr/>
        </p:nvSpPr>
        <p:spPr>
          <a:xfrm>
            <a:off x="1828800" y="3017520"/>
            <a:ext cx="0" cy="1188720"/>
          </a:xfrm>
          <a:prstGeom prst="line">
            <a:avLst/>
          </a:prstGeom>
          <a:noFill/>
          <a:ln w="19050">
            <a:solidFill>
              <a:schemeClr val="accent6"/>
            </a:solidFill>
            <a:prstDash val="solid"/>
            <a:tailEnd type="triangle"/>
          </a:ln>
        </p:spPr>
      </p:sp>
      <p:sp>
        <p:nvSpPr>
          <p:cNvPr id="17" name="Text 15"/>
          <p:cNvSpPr txBox="1"/>
          <p:nvPr/>
        </p:nvSpPr>
        <p:spPr>
          <a:xfrm>
            <a:off x="1938528" y="3474720"/>
            <a:ext cx="1188720" cy="274320"/>
          </a:xfrm>
          <a:prstGeom prst="rect">
            <a:avLst/>
          </a:prstGeom>
          <a:noFill/>
          <a:ln/>
        </p:spPr>
        <p:txBody>
          <a:bodyPr wrap="square" lIns="0" tIns="0" rIns="0" bIns="0" rtlCol="0" anchor="ctr"/>
          <a:lstStyle/>
          <a:p>
            <a:pPr algn="l" indent="0" marL="0">
              <a:buNone/>
            </a:pPr>
            <a:r>
              <a:rPr lang="en-US" sz="1100" dirty="0">
                <a:solidFill>
                  <a:schemeClr val="accent6"/>
                </a:solidFill>
              </a:rPr>
              <a:t>owner applies</a:t>
            </a:r>
            <a:endParaRPr lang="en-US" sz="1100" dirty="0"/>
          </a:p>
        </p:txBody>
      </p:sp>
      <p:sp>
        <p:nvSpPr>
          <p:cNvPr id="18" name="SailPoint ISC"/>
          <p:cNvSpPr/>
          <p:nvPr/>
        </p:nvSpPr>
        <p:spPr>
          <a:xfrm>
            <a:off x="4727448" y="4206240"/>
            <a:ext cx="2743200" cy="914400"/>
          </a:xfrm>
          <a:prstGeom prst="roundRect">
            <a:avLst>
              <a:gd name="adj" fmla="val 8000"/>
            </a:avLst>
          </a:prstGeom>
          <a:solidFill>
            <a:schemeClr val="bg1"/>
          </a:solidFill>
          <a:ln w="12700">
            <a:solidFill>
              <a:schemeClr val="tx1"/>
            </a:solidFill>
            <a:prstDash val="solid"/>
          </a:ln>
        </p:spPr>
        <p:txBody>
          <a:bodyPr wrap="square" lIns="76200" tIns="76200" rIns="76200" bIns="76200" rtlCol="0" anchor="ctr"/>
          <a:lstStyle/>
          <a:p>
            <a:pPr algn="ctr" indent="0" marL="0">
              <a:spcAft>
                <a:spcPts val="200"/>
              </a:spcAft>
              <a:buNone/>
            </a:pPr>
            <a:r>
              <a:rPr lang="en-US" sz="1400" b="1" dirty="0">
                <a:solidFill>
                  <a:schemeClr val="tx1"/>
                </a:solidFill>
              </a:rPr>
              <a:t>SailPoint ISC</a:t>
            </a:r>
            <a:endParaRPr lang="en-US" sz="1400" dirty="0"/>
          </a:p>
          <a:p>
            <a:pPr algn="ctr" indent="0" marL="0">
              <a:spcAft>
                <a:spcPts val="200"/>
              </a:spcAft>
              <a:buNone/>
            </a:pPr>
            <a:r>
              <a:rPr lang="en-US" sz="1200" dirty="0">
                <a:solidFill>
                  <a:schemeClr val="tx2"/>
                </a:solidFill>
              </a:rPr>
              <a:t>your tenant</a:t>
            </a:r>
            <a:endParaRPr lang="en-US" sz="1400" dirty="0"/>
          </a:p>
        </p:txBody>
      </p:sp>
      <p:sp>
        <p:nvSpPr>
          <p:cNvPr id="19" name="Shape 17"/>
          <p:cNvSpPr/>
          <p:nvPr/>
        </p:nvSpPr>
        <p:spPr>
          <a:xfrm>
            <a:off x="6099048" y="3017520"/>
            <a:ext cx="0" cy="1188720"/>
          </a:xfrm>
          <a:prstGeom prst="line">
            <a:avLst/>
          </a:prstGeom>
          <a:noFill/>
          <a:ln w="19050">
            <a:solidFill>
              <a:schemeClr val="tx1"/>
            </a:solidFill>
            <a:prstDash val="solid"/>
            <a:tailEnd type="triangle"/>
          </a:ln>
        </p:spPr>
      </p:sp>
      <p:sp>
        <p:nvSpPr>
          <p:cNvPr id="20" name="Text 18"/>
          <p:cNvSpPr txBox="1"/>
          <p:nvPr/>
        </p:nvSpPr>
        <p:spPr>
          <a:xfrm>
            <a:off x="6217920" y="3337560"/>
            <a:ext cx="2743200" cy="457200"/>
          </a:xfrm>
          <a:prstGeom prst="rect">
            <a:avLst/>
          </a:prstGeom>
          <a:noFill/>
          <a:ln/>
        </p:spPr>
        <p:txBody>
          <a:bodyPr wrap="square" lIns="0" tIns="0" rIns="0" bIns="0" rtlCol="0" anchor="ctr"/>
          <a:lstStyle/>
          <a:p>
            <a:pPr algn="l" indent="0" marL="0">
              <a:buNone/>
            </a:pPr>
            <a:r>
              <a:rPr lang="en-US" sz="1100" dirty="0">
                <a:solidFill>
                  <a:schemeClr val="accent6"/>
                </a:solidFill>
              </a:rPr>
              <a:t>creates, configures, tests, aggregates</a:t>
            </a:r>
            <a:endParaRPr lang="en-US" sz="1100" dirty="0"/>
          </a:p>
        </p:txBody>
      </p:sp>
      <p:sp>
        <p:nvSpPr>
          <p:cNvPr id="21" name="Shared live view"/>
          <p:cNvSpPr/>
          <p:nvPr/>
        </p:nvSpPr>
        <p:spPr>
          <a:xfrm>
            <a:off x="9079992" y="4206240"/>
            <a:ext cx="2560320" cy="914400"/>
          </a:xfrm>
          <a:prstGeom prst="roundRect">
            <a:avLst>
              <a:gd name="adj" fmla="val 8000"/>
            </a:avLst>
          </a:prstGeom>
          <a:solidFill>
            <a:schemeClr val="bg2"/>
          </a:solidFill>
          <a:ln/>
        </p:spPr>
        <p:txBody>
          <a:bodyPr wrap="square" lIns="76200" tIns="76200" rIns="76200" bIns="76200" rtlCol="0" anchor="ctr"/>
          <a:lstStyle/>
          <a:p>
            <a:pPr algn="ctr" indent="0" marL="0">
              <a:spcAft>
                <a:spcPts val="200"/>
              </a:spcAft>
              <a:buNone/>
            </a:pPr>
            <a:r>
              <a:rPr lang="en-US" sz="1400" b="1" dirty="0">
                <a:solidFill>
                  <a:schemeClr val="tx1"/>
                </a:solidFill>
              </a:rPr>
              <a:t>Shared live view</a:t>
            </a:r>
            <a:endParaRPr lang="en-US" sz="1400" dirty="0"/>
          </a:p>
          <a:p>
            <a:pPr algn="ctr" indent="0" marL="0">
              <a:spcAft>
                <a:spcPts val="200"/>
              </a:spcAft>
              <a:buNone/>
            </a:pPr>
            <a:r>
              <a:rPr lang="en-US" sz="1200" dirty="0">
                <a:solidFill>
                  <a:schemeClr val="tx2"/>
                </a:solidFill>
              </a:rPr>
              <a:t>both screens see every message and status</a:t>
            </a:r>
            <a:endParaRPr lang="en-US" sz="1400" dirty="0"/>
          </a:p>
        </p:txBody>
      </p:sp>
      <p:sp>
        <p:nvSpPr>
          <p:cNvPr id="22" name="Text 20"/>
          <p:cNvSpPr txBox="1"/>
          <p:nvPr/>
        </p:nvSpPr>
        <p:spPr>
          <a:xfrm>
            <a:off x="548640" y="5303520"/>
            <a:ext cx="3840480" cy="548640"/>
          </a:xfrm>
          <a:prstGeom prst="rect">
            <a:avLst/>
          </a:prstGeom>
          <a:noFill/>
          <a:ln/>
        </p:spPr>
        <p:txBody>
          <a:bodyPr wrap="square" lIns="0" tIns="0" rIns="0" bIns="0" rtlCol="0" anchor="t"/>
          <a:lstStyle/>
          <a:p>
            <a:pPr indent="0" marL="0">
              <a:buNone/>
            </a:pPr>
            <a:r>
              <a:rPr lang="en-US" sz="1200" dirty="0">
                <a:solidFill>
                  <a:schemeClr val="tx2"/>
                </a:solidFill>
              </a:rPr>
              <a:t>The agent never acts on the application and never asks for its credentials.</a:t>
            </a:r>
            <a:endParaRPr lang="en-US" sz="1200" dirty="0"/>
          </a:p>
        </p:txBody>
      </p:sp>
      <p:sp>
        <p:nvSpPr>
          <p:cNvPr id="23" name="Text 21"/>
          <p:cNvSpPr txBox="1"/>
          <p:nvPr/>
        </p:nvSpPr>
        <p:spPr>
          <a:xfrm>
            <a:off x="4727448" y="5303520"/>
            <a:ext cx="3108960" cy="548640"/>
          </a:xfrm>
          <a:prstGeom prst="rect">
            <a:avLst/>
          </a:prstGeom>
          <a:noFill/>
          <a:ln/>
        </p:spPr>
        <p:txBody>
          <a:bodyPr wrap="square" lIns="0" tIns="0" rIns="0" bIns="0" rtlCol="0" anchor="t"/>
          <a:lstStyle/>
          <a:p>
            <a:pPr indent="0" marL="0">
              <a:buNone/>
            </a:pPr>
            <a:r>
              <a:rPr lang="en-US" sz="1200" dirty="0">
                <a:solidFill>
                  <a:schemeClr val="tx2"/>
                </a:solidFill>
              </a:rPr>
              <a:t>The IAM engineer's order is the approval.</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What the business gets</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Four outcomes, each a measurable target in the product specification.</a:t>
            </a:r>
            <a:endParaRPr lang="en-US" sz="1600" dirty="0"/>
          </a:p>
        </p:txBody>
      </p:sp>
      <p:sp>
        <p:nvSpPr>
          <p:cNvPr id="4" name="Benefit 1"/>
          <p:cNvSpPr/>
          <p:nvPr/>
        </p:nvSpPr>
        <p:spPr>
          <a:xfrm>
            <a:off x="548640" y="1783080"/>
            <a:ext cx="2606040" cy="3977640"/>
          </a:xfrm>
          <a:prstGeom prst="roundRect">
            <a:avLst>
              <a:gd name="adj" fmla="val 2807"/>
            </a:avLst>
          </a:prstGeom>
          <a:solidFill>
            <a:schemeClr val="bg2"/>
          </a:solidFill>
          <a:ln/>
        </p:spPr>
      </p:sp>
      <p:sp>
        <p:nvSpPr>
          <p:cNvPr id="5" name="Shape 3"/>
          <p:cNvSpPr/>
          <p:nvPr/>
        </p:nvSpPr>
        <p:spPr>
          <a:xfrm>
            <a:off x="822960" y="2057400"/>
            <a:ext cx="201168" cy="201168"/>
          </a:xfrm>
          <a:prstGeom prst="ellipse">
            <a:avLst/>
          </a:prstGeom>
          <a:solidFill>
            <a:schemeClr val="accent1"/>
          </a:solidFill>
          <a:ln/>
        </p:spPr>
      </p:sp>
      <p:sp>
        <p:nvSpPr>
          <p:cNvPr id="6" name="Text 4"/>
          <p:cNvSpPr txBox="1"/>
          <p:nvPr/>
        </p:nvSpPr>
        <p:spPr>
          <a:xfrm>
            <a:off x="822960" y="2377440"/>
            <a:ext cx="2148840" cy="868680"/>
          </a:xfrm>
          <a:prstGeom prst="rect">
            <a:avLst/>
          </a:prstGeom>
          <a:noFill/>
          <a:ln/>
        </p:spPr>
        <p:txBody>
          <a:bodyPr wrap="square" lIns="0" tIns="0" rIns="0" bIns="0" rtlCol="0" anchor="ctr"/>
          <a:lstStyle/>
          <a:p>
            <a:pPr indent="0" marL="0">
              <a:buNone/>
            </a:pPr>
            <a:r>
              <a:rPr lang="en-US" sz="3600" b="1" dirty="0">
                <a:solidFill>
                  <a:schemeClr val="tx1"/>
                </a:solidFill>
              </a:rPr>
              <a:t>&lt;60 min</a:t>
            </a:r>
            <a:endParaRPr lang="en-US" sz="3600" dirty="0"/>
          </a:p>
        </p:txBody>
      </p:sp>
      <p:sp>
        <p:nvSpPr>
          <p:cNvPr id="7" name="Text 5"/>
          <p:cNvSpPr txBox="1"/>
          <p:nvPr/>
        </p:nvSpPr>
        <p:spPr>
          <a:xfrm>
            <a:off x="822960" y="3291840"/>
            <a:ext cx="2148840" cy="731520"/>
          </a:xfrm>
          <a:prstGeom prst="rect">
            <a:avLst/>
          </a:prstGeom>
          <a:noFill/>
          <a:ln/>
        </p:spPr>
        <p:txBody>
          <a:bodyPr wrap="square" lIns="0" tIns="0" rIns="0" bIns="0" rtlCol="0" anchor="t"/>
          <a:lstStyle/>
          <a:p>
            <a:pPr indent="0" marL="0">
              <a:buNone/>
            </a:pPr>
            <a:r>
              <a:rPr lang="en-US" sz="1800" b="1" dirty="0">
                <a:solidFill>
                  <a:schemeClr val="tx1"/>
                </a:solidFill>
              </a:rPr>
              <a:t>Faster onboarding</a:t>
            </a:r>
            <a:endParaRPr lang="en-US" sz="1800" dirty="0"/>
          </a:p>
        </p:txBody>
      </p:sp>
      <p:sp>
        <p:nvSpPr>
          <p:cNvPr id="8" name="Text 6"/>
          <p:cNvSpPr txBox="1"/>
          <p:nvPr/>
        </p:nvSpPr>
        <p:spPr>
          <a:xfrm>
            <a:off x="822960" y="4069080"/>
            <a:ext cx="2148840" cy="1143000"/>
          </a:xfrm>
          <a:prstGeom prst="rect">
            <a:avLst/>
          </a:prstGeom>
          <a:noFill/>
          <a:ln/>
        </p:spPr>
        <p:txBody>
          <a:bodyPr wrap="square" lIns="0" tIns="0" rIns="0" bIns="0" rtlCol="0" anchor="t"/>
          <a:lstStyle/>
          <a:p>
            <a:pPr indent="0" marL="0">
              <a:buNone/>
            </a:pPr>
            <a:r>
              <a:rPr lang="en-US" sz="1400" dirty="0">
                <a:solidFill>
                  <a:schemeClr val="tx2"/>
                </a:solidFill>
              </a:rPr>
              <a:t>First onboarding finished with both people present, aggregation run time excluded.</a:t>
            </a:r>
            <a:endParaRPr lang="en-US" sz="1400" dirty="0"/>
          </a:p>
        </p:txBody>
      </p:sp>
      <p:sp>
        <p:nvSpPr>
          <p:cNvPr id="9" name="Text 7"/>
          <p:cNvSpPr txBox="1"/>
          <p:nvPr/>
        </p:nvSpPr>
        <p:spPr>
          <a:xfrm>
            <a:off x="822960" y="5257800"/>
            <a:ext cx="2148840" cy="274320"/>
          </a:xfrm>
          <a:prstGeom prst="rect">
            <a:avLst/>
          </a:prstGeom>
          <a:noFill/>
          <a:ln/>
        </p:spPr>
        <p:txBody>
          <a:bodyPr wrap="square" lIns="0" tIns="0" rIns="0" bIns="0" rtlCol="0" anchor="ctr"/>
          <a:lstStyle/>
          <a:p>
            <a:pPr indent="0" marL="0">
              <a:buNone/>
            </a:pPr>
            <a:r>
              <a:rPr lang="en-US" sz="1100" dirty="0">
                <a:solidFill>
                  <a:schemeClr val="accent6"/>
                </a:solidFill>
              </a:rPr>
              <a:t>Spec target SC-001</a:t>
            </a:r>
            <a:endParaRPr lang="en-US" sz="1100" dirty="0"/>
          </a:p>
        </p:txBody>
      </p:sp>
      <p:sp>
        <p:nvSpPr>
          <p:cNvPr id="10" name="Benefit 2"/>
          <p:cNvSpPr/>
          <p:nvPr/>
        </p:nvSpPr>
        <p:spPr>
          <a:xfrm>
            <a:off x="3383280" y="1783080"/>
            <a:ext cx="2606040" cy="3977640"/>
          </a:xfrm>
          <a:prstGeom prst="roundRect">
            <a:avLst>
              <a:gd name="adj" fmla="val 2807"/>
            </a:avLst>
          </a:prstGeom>
          <a:solidFill>
            <a:schemeClr val="bg2"/>
          </a:solidFill>
          <a:ln/>
        </p:spPr>
      </p:sp>
      <p:sp>
        <p:nvSpPr>
          <p:cNvPr id="11" name="Shape 9"/>
          <p:cNvSpPr/>
          <p:nvPr/>
        </p:nvSpPr>
        <p:spPr>
          <a:xfrm>
            <a:off x="3657600" y="2057400"/>
            <a:ext cx="201168" cy="201168"/>
          </a:xfrm>
          <a:prstGeom prst="ellipse">
            <a:avLst/>
          </a:prstGeom>
          <a:solidFill>
            <a:schemeClr val="accent1"/>
          </a:solidFill>
          <a:ln/>
        </p:spPr>
      </p:sp>
      <p:sp>
        <p:nvSpPr>
          <p:cNvPr id="12" name="Text 10"/>
          <p:cNvSpPr txBox="1"/>
          <p:nvPr/>
        </p:nvSpPr>
        <p:spPr>
          <a:xfrm>
            <a:off x="3657600" y="2377440"/>
            <a:ext cx="2148840" cy="868680"/>
          </a:xfrm>
          <a:prstGeom prst="rect">
            <a:avLst/>
          </a:prstGeom>
          <a:noFill/>
          <a:ln/>
        </p:spPr>
        <p:txBody>
          <a:bodyPr wrap="square" lIns="0" tIns="0" rIns="0" bIns="0" rtlCol="0" anchor="ctr"/>
          <a:lstStyle/>
          <a:p>
            <a:pPr indent="0" marL="0">
              <a:buNone/>
            </a:pPr>
            <a:r>
              <a:rPr lang="en-US" sz="3600" b="1" dirty="0">
                <a:solidFill>
                  <a:schemeClr val="tx1"/>
                </a:solidFill>
              </a:rPr>
              <a:t>0</a:t>
            </a:r>
            <a:endParaRPr lang="en-US" sz="3600" dirty="0"/>
          </a:p>
        </p:txBody>
      </p:sp>
      <p:sp>
        <p:nvSpPr>
          <p:cNvPr id="13" name="Text 11"/>
          <p:cNvSpPr txBox="1"/>
          <p:nvPr/>
        </p:nvSpPr>
        <p:spPr>
          <a:xfrm>
            <a:off x="3657600" y="3291840"/>
            <a:ext cx="2148840" cy="731520"/>
          </a:xfrm>
          <a:prstGeom prst="rect">
            <a:avLst/>
          </a:prstGeom>
          <a:noFill/>
          <a:ln/>
        </p:spPr>
        <p:txBody>
          <a:bodyPr wrap="square" lIns="0" tIns="0" rIns="0" bIns="0" rtlCol="0" anchor="t"/>
          <a:lstStyle/>
          <a:p>
            <a:pPr indent="0" marL="0">
              <a:buNone/>
            </a:pPr>
            <a:r>
              <a:rPr lang="en-US" sz="1800" b="1" dirty="0">
                <a:solidFill>
                  <a:schemeClr val="tx1"/>
                </a:solidFill>
              </a:rPr>
              <a:t>No lookups</a:t>
            </a:r>
            <a:endParaRPr lang="en-US" sz="1800" dirty="0"/>
          </a:p>
        </p:txBody>
      </p:sp>
      <p:sp>
        <p:nvSpPr>
          <p:cNvPr id="14" name="Text 12"/>
          <p:cNvSpPr txBox="1"/>
          <p:nvPr/>
        </p:nvSpPr>
        <p:spPr>
          <a:xfrm>
            <a:off x="3657600" y="4069080"/>
            <a:ext cx="2148840" cy="1143000"/>
          </a:xfrm>
          <a:prstGeom prst="rect">
            <a:avLst/>
          </a:prstGeom>
          <a:noFill/>
          <a:ln/>
        </p:spPr>
        <p:txBody>
          <a:bodyPr wrap="square" lIns="0" tIns="0" rIns="0" bIns="0" rtlCol="0" anchor="t"/>
          <a:lstStyle/>
          <a:p>
            <a:pPr indent="0" marL="0">
              <a:buNone/>
            </a:pPr>
            <a:r>
              <a:rPr lang="en-US" sz="1400" dirty="0">
                <a:solidFill>
                  <a:schemeClr val="tx2"/>
                </a:solidFill>
              </a:rPr>
              <a:t>Every value the session already knows is filled into each instruction.</a:t>
            </a:r>
            <a:endParaRPr lang="en-US" sz="1400" dirty="0"/>
          </a:p>
        </p:txBody>
      </p:sp>
      <p:sp>
        <p:nvSpPr>
          <p:cNvPr id="15" name="Text 13"/>
          <p:cNvSpPr txBox="1"/>
          <p:nvPr/>
        </p:nvSpPr>
        <p:spPr>
          <a:xfrm>
            <a:off x="3657600" y="5257800"/>
            <a:ext cx="2148840" cy="274320"/>
          </a:xfrm>
          <a:prstGeom prst="rect">
            <a:avLst/>
          </a:prstGeom>
          <a:noFill/>
          <a:ln/>
        </p:spPr>
        <p:txBody>
          <a:bodyPr wrap="square" lIns="0" tIns="0" rIns="0" bIns="0" rtlCol="0" anchor="ctr"/>
          <a:lstStyle/>
          <a:p>
            <a:pPr indent="0" marL="0">
              <a:buNone/>
            </a:pPr>
            <a:r>
              <a:rPr lang="en-US" sz="1100" dirty="0">
                <a:solidFill>
                  <a:schemeClr val="accent6"/>
                </a:solidFill>
              </a:rPr>
              <a:t>Spec target SC-002</a:t>
            </a:r>
            <a:endParaRPr lang="en-US" sz="1100" dirty="0"/>
          </a:p>
        </p:txBody>
      </p:sp>
      <p:sp>
        <p:nvSpPr>
          <p:cNvPr id="16" name="Benefit 3"/>
          <p:cNvSpPr/>
          <p:nvPr/>
        </p:nvSpPr>
        <p:spPr>
          <a:xfrm>
            <a:off x="6217920" y="1783080"/>
            <a:ext cx="2606040" cy="3977640"/>
          </a:xfrm>
          <a:prstGeom prst="roundRect">
            <a:avLst>
              <a:gd name="adj" fmla="val 2807"/>
            </a:avLst>
          </a:prstGeom>
          <a:solidFill>
            <a:schemeClr val="bg2"/>
          </a:solidFill>
          <a:ln/>
        </p:spPr>
      </p:sp>
      <p:sp>
        <p:nvSpPr>
          <p:cNvPr id="17" name="Shape 15"/>
          <p:cNvSpPr/>
          <p:nvPr/>
        </p:nvSpPr>
        <p:spPr>
          <a:xfrm>
            <a:off x="6492240" y="2057400"/>
            <a:ext cx="201168" cy="201168"/>
          </a:xfrm>
          <a:prstGeom prst="ellipse">
            <a:avLst/>
          </a:prstGeom>
          <a:solidFill>
            <a:schemeClr val="accent1"/>
          </a:solidFill>
          <a:ln/>
        </p:spPr>
      </p:sp>
      <p:sp>
        <p:nvSpPr>
          <p:cNvPr id="18" name="Text 16"/>
          <p:cNvSpPr txBox="1"/>
          <p:nvPr/>
        </p:nvSpPr>
        <p:spPr>
          <a:xfrm>
            <a:off x="6492240" y="2377440"/>
            <a:ext cx="2148840" cy="868680"/>
          </a:xfrm>
          <a:prstGeom prst="rect">
            <a:avLst/>
          </a:prstGeom>
          <a:noFill/>
          <a:ln/>
        </p:spPr>
        <p:txBody>
          <a:bodyPr wrap="square" lIns="0" tIns="0" rIns="0" bIns="0" rtlCol="0" anchor="ctr"/>
          <a:lstStyle/>
          <a:p>
            <a:pPr indent="0" marL="0">
              <a:buNone/>
            </a:pPr>
            <a:r>
              <a:rPr lang="en-US" sz="3600" b="1" dirty="0">
                <a:solidFill>
                  <a:schemeClr val="tx1"/>
                </a:solidFill>
              </a:rPr>
              <a:t>0</a:t>
            </a:r>
            <a:endParaRPr lang="en-US" sz="3600" dirty="0"/>
          </a:p>
        </p:txBody>
      </p:sp>
      <p:sp>
        <p:nvSpPr>
          <p:cNvPr id="19" name="Text 17"/>
          <p:cNvSpPr txBox="1"/>
          <p:nvPr/>
        </p:nvSpPr>
        <p:spPr>
          <a:xfrm>
            <a:off x="6492240" y="3291840"/>
            <a:ext cx="2148840" cy="731520"/>
          </a:xfrm>
          <a:prstGeom prst="rect">
            <a:avLst/>
          </a:prstGeom>
          <a:noFill/>
          <a:ln/>
        </p:spPr>
        <p:txBody>
          <a:bodyPr wrap="square" lIns="0" tIns="0" rIns="0" bIns="0" rtlCol="0" anchor="t"/>
          <a:lstStyle/>
          <a:p>
            <a:pPr indent="0" marL="0">
              <a:buNone/>
            </a:pPr>
            <a:r>
              <a:rPr lang="en-US" sz="1800" b="1" dirty="0">
                <a:solidFill>
                  <a:schemeClr val="tx1"/>
                </a:solidFill>
              </a:rPr>
              <a:t>Credentials exposed</a:t>
            </a:r>
            <a:endParaRPr lang="en-US" sz="1800" dirty="0"/>
          </a:p>
        </p:txBody>
      </p:sp>
      <p:sp>
        <p:nvSpPr>
          <p:cNvPr id="20" name="Text 18"/>
          <p:cNvSpPr txBox="1"/>
          <p:nvPr/>
        </p:nvSpPr>
        <p:spPr>
          <a:xfrm>
            <a:off x="6492240" y="4069080"/>
            <a:ext cx="2148840" cy="1143000"/>
          </a:xfrm>
          <a:prstGeom prst="rect">
            <a:avLst/>
          </a:prstGeom>
          <a:noFill/>
          <a:ln/>
        </p:spPr>
        <p:txBody>
          <a:bodyPr wrap="square" lIns="0" tIns="0" rIns="0" bIns="0" rtlCol="0" anchor="t"/>
          <a:lstStyle/>
          <a:p>
            <a:pPr indent="0" marL="0">
              <a:buNone/>
            </a:pPr>
            <a:r>
              <a:rPr lang="en-US" sz="1400" dirty="0">
                <a:solidFill>
                  <a:schemeClr val="tx2"/>
                </a:solidFill>
              </a:rPr>
              <a:t>No SailPoint credential or unmasked secret in any screen, transcript or log.</a:t>
            </a:r>
            <a:endParaRPr lang="en-US" sz="1400" dirty="0"/>
          </a:p>
        </p:txBody>
      </p:sp>
      <p:sp>
        <p:nvSpPr>
          <p:cNvPr id="21" name="Text 19"/>
          <p:cNvSpPr txBox="1"/>
          <p:nvPr/>
        </p:nvSpPr>
        <p:spPr>
          <a:xfrm>
            <a:off x="6492240" y="5257800"/>
            <a:ext cx="2148840" cy="274320"/>
          </a:xfrm>
          <a:prstGeom prst="rect">
            <a:avLst/>
          </a:prstGeom>
          <a:noFill/>
          <a:ln/>
        </p:spPr>
        <p:txBody>
          <a:bodyPr wrap="square" lIns="0" tIns="0" rIns="0" bIns="0" rtlCol="0" anchor="ctr"/>
          <a:lstStyle/>
          <a:p>
            <a:pPr indent="0" marL="0">
              <a:buNone/>
            </a:pPr>
            <a:r>
              <a:rPr lang="en-US" sz="1100" dirty="0">
                <a:solidFill>
                  <a:schemeClr val="accent6"/>
                </a:solidFill>
              </a:rPr>
              <a:t>Spec target SC-004</a:t>
            </a:r>
            <a:endParaRPr lang="en-US" sz="1100" dirty="0"/>
          </a:p>
        </p:txBody>
      </p:sp>
      <p:sp>
        <p:nvSpPr>
          <p:cNvPr id="22" name="Benefit 4"/>
          <p:cNvSpPr/>
          <p:nvPr/>
        </p:nvSpPr>
        <p:spPr>
          <a:xfrm>
            <a:off x="9052560" y="1783080"/>
            <a:ext cx="2606040" cy="3977640"/>
          </a:xfrm>
          <a:prstGeom prst="roundRect">
            <a:avLst>
              <a:gd name="adj" fmla="val 2807"/>
            </a:avLst>
          </a:prstGeom>
          <a:solidFill>
            <a:schemeClr val="bg2"/>
          </a:solidFill>
          <a:ln/>
        </p:spPr>
      </p:sp>
      <p:sp>
        <p:nvSpPr>
          <p:cNvPr id="23" name="Shape 21"/>
          <p:cNvSpPr/>
          <p:nvPr/>
        </p:nvSpPr>
        <p:spPr>
          <a:xfrm>
            <a:off x="9326880" y="2057400"/>
            <a:ext cx="201168" cy="201168"/>
          </a:xfrm>
          <a:prstGeom prst="ellipse">
            <a:avLst/>
          </a:prstGeom>
          <a:solidFill>
            <a:schemeClr val="accent1"/>
          </a:solidFill>
          <a:ln/>
        </p:spPr>
      </p:sp>
      <p:sp>
        <p:nvSpPr>
          <p:cNvPr id="24" name="Text 22"/>
          <p:cNvSpPr txBox="1"/>
          <p:nvPr/>
        </p:nvSpPr>
        <p:spPr>
          <a:xfrm>
            <a:off x="9326880" y="2377440"/>
            <a:ext cx="2148840" cy="868680"/>
          </a:xfrm>
          <a:prstGeom prst="rect">
            <a:avLst/>
          </a:prstGeom>
          <a:noFill/>
          <a:ln/>
        </p:spPr>
        <p:txBody>
          <a:bodyPr wrap="square" lIns="0" tIns="0" rIns="0" bIns="0" rtlCol="0" anchor="ctr"/>
          <a:lstStyle/>
          <a:p>
            <a:pPr indent="0" marL="0">
              <a:buNone/>
            </a:pPr>
            <a:r>
              <a:rPr lang="en-US" sz="3600" b="1" dirty="0">
                <a:solidFill>
                  <a:schemeClr val="tx1"/>
                </a:solidFill>
              </a:rPr>
              <a:t>100%</a:t>
            </a:r>
            <a:endParaRPr lang="en-US" sz="3600" dirty="0"/>
          </a:p>
        </p:txBody>
      </p:sp>
      <p:sp>
        <p:nvSpPr>
          <p:cNvPr id="25" name="Text 23"/>
          <p:cNvSpPr txBox="1"/>
          <p:nvPr/>
        </p:nvSpPr>
        <p:spPr>
          <a:xfrm>
            <a:off x="9326880" y="3291840"/>
            <a:ext cx="2148840" cy="731520"/>
          </a:xfrm>
          <a:prstGeom prst="rect">
            <a:avLst/>
          </a:prstGeom>
          <a:noFill/>
          <a:ln/>
        </p:spPr>
        <p:txBody>
          <a:bodyPr wrap="square" lIns="0" tIns="0" rIns="0" bIns="0" rtlCol="0" anchor="t"/>
          <a:lstStyle/>
          <a:p>
            <a:pPr indent="0" marL="0">
              <a:buNone/>
            </a:pPr>
            <a:r>
              <a:rPr lang="en-US" sz="1800" b="1" dirty="0">
                <a:solidFill>
                  <a:schemeClr val="tx1"/>
                </a:solidFill>
              </a:rPr>
              <a:t>Audit-ready</a:t>
            </a:r>
            <a:endParaRPr lang="en-US" sz="1800" dirty="0"/>
          </a:p>
        </p:txBody>
      </p:sp>
      <p:sp>
        <p:nvSpPr>
          <p:cNvPr id="26" name="Text 24"/>
          <p:cNvSpPr txBox="1"/>
          <p:nvPr/>
        </p:nvSpPr>
        <p:spPr>
          <a:xfrm>
            <a:off x="9326880" y="4069080"/>
            <a:ext cx="2148840" cy="1143000"/>
          </a:xfrm>
          <a:prstGeom prst="rect">
            <a:avLst/>
          </a:prstGeom>
          <a:noFill/>
          <a:ln/>
        </p:spPr>
        <p:txBody>
          <a:bodyPr wrap="square" lIns="0" tIns="0" rIns="0" bIns="0" rtlCol="0" anchor="t"/>
          <a:lstStyle/>
          <a:p>
            <a:pPr indent="0" marL="0">
              <a:buNone/>
            </a:pPr>
            <a:r>
              <a:rPr lang="en-US" sz="1400" dirty="0">
                <a:solidFill>
                  <a:schemeClr val="tx2"/>
                </a:solidFill>
              </a:rPr>
              <a:t>Every SailPoint change names the IAM engineer who ordered it.</a:t>
            </a:r>
            <a:endParaRPr lang="en-US" sz="1400" dirty="0"/>
          </a:p>
        </p:txBody>
      </p:sp>
      <p:sp>
        <p:nvSpPr>
          <p:cNvPr id="27" name="Text 25"/>
          <p:cNvSpPr txBox="1"/>
          <p:nvPr/>
        </p:nvSpPr>
        <p:spPr>
          <a:xfrm>
            <a:off x="9326880" y="5257800"/>
            <a:ext cx="2148840" cy="274320"/>
          </a:xfrm>
          <a:prstGeom prst="rect">
            <a:avLst/>
          </a:prstGeom>
          <a:noFill/>
          <a:ln/>
        </p:spPr>
        <p:txBody>
          <a:bodyPr wrap="square" lIns="0" tIns="0" rIns="0" bIns="0" rtlCol="0" anchor="ctr"/>
          <a:lstStyle/>
          <a:p>
            <a:pPr indent="0" marL="0">
              <a:buNone/>
            </a:pPr>
            <a:r>
              <a:rPr lang="en-US" sz="1100" dirty="0">
                <a:solidFill>
                  <a:schemeClr val="accent6"/>
                </a:solidFill>
              </a:rPr>
              <a:t>Spec target SC-006</a:t>
            </a:r>
            <a:endParaRPr lang="en-US" sz="1100" dirty="0"/>
          </a:p>
        </p:txBody>
      </p:sp>
      <p:sp>
        <p:nvSpPr>
          <p:cNvPr id="28" name="Text 26"/>
          <p:cNvSpPr txBox="1"/>
          <p:nvPr/>
        </p:nvSpPr>
        <p:spPr>
          <a:xfrm>
            <a:off x="548640" y="5897880"/>
            <a:ext cx="11064240" cy="274320"/>
          </a:xfrm>
          <a:prstGeom prst="rect">
            <a:avLst/>
          </a:prstGeom>
          <a:noFill/>
          <a:ln/>
        </p:spPr>
        <p:txBody>
          <a:bodyPr wrap="square" lIns="0" tIns="0" rIns="0" bIns="0" rtlCol="0" anchor="ctr"/>
          <a:lstStyle/>
          <a:p>
            <a:pPr indent="0" marL="0">
              <a:buNone/>
            </a:pPr>
            <a:r>
              <a:rPr lang="en-US" sz="1100" i="1" dirty="0">
                <a:solidFill>
                  <a:schemeClr val="accent6"/>
                </a:solidFill>
              </a:rPr>
              <a:t>Design targets from the product specification, to be confirmed in the pilot.</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Six steps from order to live source</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Both screens show each step as not started, in progress, passed or failed, updated live.</a:t>
            </a:r>
            <a:endParaRPr lang="en-US" sz="1600" dirty="0"/>
          </a:p>
        </p:txBody>
      </p:sp>
      <p:sp>
        <p:nvSpPr>
          <p:cNvPr id="4" name="Shape 2"/>
          <p:cNvSpPr/>
          <p:nvPr/>
        </p:nvSpPr>
        <p:spPr>
          <a:xfrm>
            <a:off x="822960" y="2103120"/>
            <a:ext cx="9372600" cy="0"/>
          </a:xfrm>
          <a:prstGeom prst="line">
            <a:avLst/>
          </a:prstGeom>
          <a:noFill/>
          <a:ln w="25400">
            <a:solidFill>
              <a:srgbClr val="D0D0CE"/>
            </a:solidFill>
            <a:prstDash val="solid"/>
          </a:ln>
        </p:spPr>
      </p:sp>
      <p:sp>
        <p:nvSpPr>
          <p:cNvPr id="5" name="Marker 1"/>
          <p:cNvSpPr/>
          <p:nvPr/>
        </p:nvSpPr>
        <p:spPr>
          <a:xfrm>
            <a:off x="59436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54864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Application ready</a:t>
            </a:r>
            <a:endParaRPr lang="en-US" sz="1500" dirty="0"/>
          </a:p>
        </p:txBody>
      </p:sp>
      <p:sp>
        <p:nvSpPr>
          <p:cNvPr id="7" name="Text 5"/>
          <p:cNvSpPr/>
          <p:nvPr/>
        </p:nvSpPr>
        <p:spPr>
          <a:xfrm>
            <a:off x="548640" y="3200400"/>
            <a:ext cx="1600200" cy="292608"/>
          </a:xfrm>
          <a:prstGeom prst="roundRect">
            <a:avLst>
              <a:gd name="adj" fmla="val 15625"/>
            </a:avLst>
          </a:prstGeom>
          <a:solidFill>
            <a:srgbClr val="F2F8FC"/>
          </a:solidFill>
          <a:ln/>
        </p:spPr>
        <p:txBody>
          <a:bodyPr wrap="square" lIns="0" tIns="0" rIns="0" bIns="0" rtlCol="0" anchor="ctr"/>
          <a:lstStyle/>
          <a:p>
            <a:pPr algn="ctr" indent="0" marL="0">
              <a:buNone/>
            </a:pPr>
            <a:r>
              <a:rPr lang="en-US" sz="1100" b="1" dirty="0">
                <a:solidFill>
                  <a:srgbClr val="005587"/>
                </a:solidFill>
              </a:rPr>
              <a:t>Application owner</a:t>
            </a:r>
            <a:endParaRPr lang="en-US" sz="1100" dirty="0"/>
          </a:p>
        </p:txBody>
      </p:sp>
      <p:sp>
        <p:nvSpPr>
          <p:cNvPr id="8" name="Text 6"/>
          <p:cNvSpPr txBox="1"/>
          <p:nvPr/>
        </p:nvSpPr>
        <p:spPr>
          <a:xfrm>
            <a:off x="54864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Follows the agent's steps; the agent checks each output.</a:t>
            </a:r>
            <a:endParaRPr lang="en-US" sz="1400" dirty="0"/>
          </a:p>
        </p:txBody>
      </p:sp>
      <p:sp>
        <p:nvSpPr>
          <p:cNvPr id="9" name="Marker 2"/>
          <p:cNvSpPr/>
          <p:nvPr/>
        </p:nvSpPr>
        <p:spPr>
          <a:xfrm>
            <a:off x="246888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Text 8"/>
          <p:cNvSpPr txBox="1"/>
          <p:nvPr/>
        </p:nvSpPr>
        <p:spPr>
          <a:xfrm>
            <a:off x="242316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Source created</a:t>
            </a:r>
            <a:endParaRPr lang="en-US" sz="1500" dirty="0"/>
          </a:p>
        </p:txBody>
      </p:sp>
      <p:sp>
        <p:nvSpPr>
          <p:cNvPr id="11" name="Text 9"/>
          <p:cNvSpPr/>
          <p:nvPr/>
        </p:nvSpPr>
        <p:spPr>
          <a:xfrm>
            <a:off x="2423160" y="3200400"/>
            <a:ext cx="12344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tx1"/>
                </a:solidFill>
              </a:rPr>
              <a:t>Agent, on order</a:t>
            </a:r>
            <a:endParaRPr lang="en-US" sz="1100" dirty="0"/>
          </a:p>
        </p:txBody>
      </p:sp>
      <p:sp>
        <p:nvSpPr>
          <p:cNvPr id="12" name="Text 10"/>
          <p:cNvSpPr txBox="1"/>
          <p:nvPr/>
        </p:nvSpPr>
        <p:spPr>
          <a:xfrm>
            <a:off x="242316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The engineer says “create the connector”; the agent creates it.</a:t>
            </a:r>
            <a:endParaRPr lang="en-US" sz="1400" dirty="0"/>
          </a:p>
        </p:txBody>
      </p:sp>
      <p:sp>
        <p:nvSpPr>
          <p:cNvPr id="13" name="Marker 3"/>
          <p:cNvSpPr/>
          <p:nvPr/>
        </p:nvSpPr>
        <p:spPr>
          <a:xfrm>
            <a:off x="434340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4" name="Text 12"/>
          <p:cNvSpPr txBox="1"/>
          <p:nvPr/>
        </p:nvSpPr>
        <p:spPr>
          <a:xfrm>
            <a:off x="429768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Source configured</a:t>
            </a:r>
            <a:endParaRPr lang="en-US" sz="1500" dirty="0"/>
          </a:p>
        </p:txBody>
      </p:sp>
      <p:sp>
        <p:nvSpPr>
          <p:cNvPr id="15" name="Text 13"/>
          <p:cNvSpPr/>
          <p:nvPr/>
        </p:nvSpPr>
        <p:spPr>
          <a:xfrm>
            <a:off x="4297680" y="3200400"/>
            <a:ext cx="12344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tx1"/>
                </a:solidFill>
              </a:rPr>
              <a:t>Agent</a:t>
            </a:r>
            <a:endParaRPr lang="en-US" sz="1100" dirty="0"/>
          </a:p>
        </p:txBody>
      </p:sp>
      <p:sp>
        <p:nvSpPr>
          <p:cNvPr id="16" name="Text 14"/>
          <p:cNvSpPr txBox="1"/>
          <p:nvPr/>
        </p:nvSpPr>
        <p:spPr>
          <a:xfrm>
            <a:off x="429768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Role, accounts in scope, region and policy are set.</a:t>
            </a:r>
            <a:endParaRPr lang="en-US" sz="1400" dirty="0"/>
          </a:p>
        </p:txBody>
      </p:sp>
      <p:sp>
        <p:nvSpPr>
          <p:cNvPr id="17" name="Marker 4"/>
          <p:cNvSpPr/>
          <p:nvPr/>
        </p:nvSpPr>
        <p:spPr>
          <a:xfrm>
            <a:off x="621792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 16"/>
          <p:cNvSpPr txBox="1"/>
          <p:nvPr/>
        </p:nvSpPr>
        <p:spPr>
          <a:xfrm>
            <a:off x="617220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Connection check</a:t>
            </a:r>
            <a:endParaRPr lang="en-US" sz="1500" dirty="0"/>
          </a:p>
        </p:txBody>
      </p:sp>
      <p:sp>
        <p:nvSpPr>
          <p:cNvPr id="19" name="Text 17"/>
          <p:cNvSpPr/>
          <p:nvPr/>
        </p:nvSpPr>
        <p:spPr>
          <a:xfrm>
            <a:off x="6172200" y="3200400"/>
            <a:ext cx="12344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tx1"/>
                </a:solidFill>
              </a:rPr>
              <a:t>Agent</a:t>
            </a:r>
            <a:endParaRPr lang="en-US" sz="1100" dirty="0"/>
          </a:p>
        </p:txBody>
      </p:sp>
      <p:sp>
        <p:nvSpPr>
          <p:cNvPr id="20" name="Text 18"/>
          <p:cNvSpPr txBox="1"/>
          <p:nvPr/>
        </p:nvSpPr>
        <p:spPr>
          <a:xfrm>
            <a:off x="617220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Runs the check and reports the result in the chat.</a:t>
            </a:r>
            <a:endParaRPr lang="en-US" sz="1400" dirty="0"/>
          </a:p>
        </p:txBody>
      </p:sp>
      <p:sp>
        <p:nvSpPr>
          <p:cNvPr id="21" name="Marker 5"/>
          <p:cNvSpPr/>
          <p:nvPr/>
        </p:nvSpPr>
        <p:spPr>
          <a:xfrm>
            <a:off x="809244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2" name="Text 20"/>
          <p:cNvSpPr txBox="1"/>
          <p:nvPr/>
        </p:nvSpPr>
        <p:spPr>
          <a:xfrm>
            <a:off x="804672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Aggregation</a:t>
            </a:r>
            <a:endParaRPr lang="en-US" sz="1500" dirty="0"/>
          </a:p>
        </p:txBody>
      </p:sp>
      <p:sp>
        <p:nvSpPr>
          <p:cNvPr id="23" name="Text 21"/>
          <p:cNvSpPr/>
          <p:nvPr/>
        </p:nvSpPr>
        <p:spPr>
          <a:xfrm>
            <a:off x="8046720" y="3200400"/>
            <a:ext cx="12344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tx1"/>
                </a:solidFill>
              </a:rPr>
              <a:t>Agent</a:t>
            </a:r>
            <a:endParaRPr lang="en-US" sz="1100" dirty="0"/>
          </a:p>
        </p:txBody>
      </p:sp>
      <p:sp>
        <p:nvSpPr>
          <p:cNvPr id="24" name="Text 22"/>
          <p:cNvSpPr txBox="1"/>
          <p:nvPr/>
        </p:nvSpPr>
        <p:spPr>
          <a:xfrm>
            <a:off x="804672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Pulls in accounts and entitlements.</a:t>
            </a:r>
            <a:endParaRPr lang="en-US" sz="1400" dirty="0"/>
          </a:p>
        </p:txBody>
      </p:sp>
      <p:sp>
        <p:nvSpPr>
          <p:cNvPr id="25" name="Marker 6"/>
          <p:cNvSpPr/>
          <p:nvPr/>
        </p:nvSpPr>
        <p:spPr>
          <a:xfrm>
            <a:off x="996696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6" name="Text 24"/>
          <p:cNvSpPr txBox="1"/>
          <p:nvPr/>
        </p:nvSpPr>
        <p:spPr>
          <a:xfrm>
            <a:off x="9921240" y="2560320"/>
            <a:ext cx="1691640" cy="594360"/>
          </a:xfrm>
          <a:prstGeom prst="rect">
            <a:avLst/>
          </a:prstGeom>
          <a:noFill/>
          <a:ln/>
        </p:spPr>
        <p:txBody>
          <a:bodyPr wrap="square" lIns="0" tIns="0" rIns="0" bIns="0" rtlCol="0" anchor="t"/>
          <a:lstStyle/>
          <a:p>
            <a:pPr indent="0" marL="0">
              <a:buNone/>
            </a:pPr>
            <a:r>
              <a:rPr lang="en-US" sz="1500" b="1" dirty="0">
                <a:solidFill>
                  <a:schemeClr val="tx1"/>
                </a:solidFill>
              </a:rPr>
              <a:t>Test Connection</a:t>
            </a:r>
            <a:endParaRPr lang="en-US" sz="1500" dirty="0"/>
          </a:p>
        </p:txBody>
      </p:sp>
      <p:sp>
        <p:nvSpPr>
          <p:cNvPr id="27" name="Text 25"/>
          <p:cNvSpPr/>
          <p:nvPr/>
        </p:nvSpPr>
        <p:spPr>
          <a:xfrm>
            <a:off x="9921240" y="3200400"/>
            <a:ext cx="12344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tx1"/>
                </a:solidFill>
              </a:rPr>
              <a:t>Agent</a:t>
            </a:r>
            <a:endParaRPr lang="en-US" sz="1100" dirty="0"/>
          </a:p>
        </p:txBody>
      </p:sp>
      <p:sp>
        <p:nvSpPr>
          <p:cNvPr id="28" name="Text 26"/>
          <p:cNvSpPr txBox="1"/>
          <p:nvPr/>
        </p:nvSpPr>
        <p:spPr>
          <a:xfrm>
            <a:off x="9921240" y="3657600"/>
            <a:ext cx="1691640" cy="1371600"/>
          </a:xfrm>
          <a:prstGeom prst="rect">
            <a:avLst/>
          </a:prstGeom>
          <a:noFill/>
          <a:ln/>
        </p:spPr>
        <p:txBody>
          <a:bodyPr wrap="square" lIns="0" tIns="0" rIns="0" bIns="0" rtlCol="0" anchor="t"/>
          <a:lstStyle/>
          <a:p>
            <a:pPr indent="0" marL="0">
              <a:buNone/>
            </a:pPr>
            <a:r>
              <a:rPr lang="en-US" sz="1400" dirty="0">
                <a:solidFill>
                  <a:schemeClr val="tx2"/>
                </a:solidFill>
              </a:rPr>
              <a:t>Confirms the source works. Onboarding is done.</a:t>
            </a:r>
            <a:endParaRPr lang="en-US" sz="1400" dirty="0"/>
          </a:p>
        </p:txBody>
      </p:sp>
      <p:sp>
        <p:nvSpPr>
          <p:cNvPr id="29" name="Text 27"/>
          <p:cNvSpPr/>
          <p:nvPr/>
        </p:nvSpPr>
        <p:spPr>
          <a:xfrm>
            <a:off x="548640" y="5212080"/>
            <a:ext cx="11064240" cy="777240"/>
          </a:xfrm>
          <a:prstGeom prst="roundRect">
            <a:avLst>
              <a:gd name="adj" fmla="val 9412"/>
            </a:avLst>
          </a:prstGeom>
          <a:solidFill>
            <a:schemeClr val="bg2"/>
          </a:solidFill>
          <a:ln/>
        </p:spPr>
        <p:txBody>
          <a:bodyPr wrap="square" lIns="152400" tIns="152400" rIns="152400" bIns="152400" rtlCol="0" anchor="ctr"/>
          <a:lstStyle/>
          <a:p>
            <a:pPr indent="0" marL="0">
              <a:buNone/>
            </a:pPr>
            <a:r>
              <a:rPr lang="en-US" sz="1500" b="1" dirty="0">
                <a:solidFill>
                  <a:schemeClr val="tx1"/>
                </a:solidFill>
              </a:rPr>
              <a:t>The IAM engineer's order is the approval. </a:t>
            </a:r>
            <a:pPr indent="0" marL="0">
              <a:buNone/>
            </a:pPr>
            <a:r>
              <a:rPr lang="en-US" sz="1500" dirty="0">
                <a:solidFill>
                  <a:schemeClr val="tx2"/>
                </a:solidFill>
              </a:rPr>
              <a:t>There are no extra confirmation clicks, and every SailPoint change is logged with who ordered it, when, and the result.</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Errors get fixed in the conversation</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Paste an error or upload a screenshot. The agent finds which side the cause is on and acts on it.</a:t>
            </a:r>
            <a:endParaRPr lang="en-US" sz="1600" dirty="0"/>
          </a:p>
        </p:txBody>
      </p:sp>
      <p:sp>
        <p:nvSpPr>
          <p:cNvPr id="4" name="Error or screenshot"/>
          <p:cNvSpPr/>
          <p:nvPr/>
        </p:nvSpPr>
        <p:spPr>
          <a:xfrm>
            <a:off x="548640" y="2926080"/>
            <a:ext cx="2011680" cy="914400"/>
          </a:xfrm>
          <a:prstGeom prst="roundRect">
            <a:avLst>
              <a:gd name="adj" fmla="val 8000"/>
            </a:avLst>
          </a:prstGeom>
          <a:solidFill>
            <a:schemeClr val="bg2"/>
          </a:solidFill>
          <a:ln/>
        </p:spPr>
        <p:txBody>
          <a:bodyPr wrap="square" lIns="76200" tIns="76200" rIns="76200" bIns="76200" rtlCol="0" anchor="ctr"/>
          <a:lstStyle/>
          <a:p>
            <a:pPr algn="ctr" indent="0" marL="0">
              <a:spcAft>
                <a:spcPts val="200"/>
              </a:spcAft>
              <a:buNone/>
            </a:pPr>
            <a:r>
              <a:rPr lang="en-US" sz="1400" b="1" dirty="0">
                <a:solidFill>
                  <a:schemeClr val="tx1"/>
                </a:solidFill>
              </a:rPr>
              <a:t>Error or screenshot</a:t>
            </a:r>
            <a:endParaRPr lang="en-US" sz="1400" dirty="0"/>
          </a:p>
          <a:p>
            <a:pPr algn="ctr" indent="0" marL="0">
              <a:spcAft>
                <a:spcPts val="200"/>
              </a:spcAft>
              <a:buNone/>
            </a:pPr>
            <a:r>
              <a:rPr lang="en-US" sz="1200" dirty="0">
                <a:solidFill>
                  <a:schemeClr val="tx2"/>
                </a:solidFill>
              </a:rPr>
              <a:t>from either person</a:t>
            </a:r>
            <a:endParaRPr lang="en-US" sz="1400" dirty="0"/>
          </a:p>
        </p:txBody>
      </p:sp>
      <p:sp>
        <p:nvSpPr>
          <p:cNvPr id="5" name="Agent diagnoses"/>
          <p:cNvSpPr/>
          <p:nvPr/>
        </p:nvSpPr>
        <p:spPr>
          <a:xfrm>
            <a:off x="2926080" y="2926080"/>
            <a:ext cx="1828800" cy="914400"/>
          </a:xfrm>
          <a:prstGeom prst="roundRect">
            <a:avLst>
              <a:gd name="adj" fmla="val 8000"/>
            </a:avLst>
          </a:prstGeom>
          <a:solidFill>
            <a:schemeClr val="tx1"/>
          </a:solidFill>
          <a:ln/>
        </p:spPr>
        <p:txBody>
          <a:bodyPr wrap="square" lIns="76200" tIns="76200" rIns="76200" bIns="76200" rtlCol="0" anchor="ctr"/>
          <a:lstStyle/>
          <a:p>
            <a:pPr algn="ctr" indent="0" marL="0">
              <a:spcAft>
                <a:spcPts val="200"/>
              </a:spcAft>
              <a:buNone/>
            </a:pPr>
            <a:r>
              <a:rPr lang="en-US" sz="1400" b="1" dirty="0">
                <a:solidFill>
                  <a:schemeClr val="bg1"/>
                </a:solidFill>
              </a:rPr>
              <a:t>Agent diagnoses</a:t>
            </a:r>
            <a:endParaRPr lang="en-US" sz="1400" dirty="0"/>
          </a:p>
          <a:p>
            <a:pPr algn="ctr" indent="0" marL="0">
              <a:spcAft>
                <a:spcPts val="200"/>
              </a:spcAft>
              <a:buNone/>
            </a:pPr>
            <a:r>
              <a:rPr lang="en-US" sz="1200" dirty="0">
                <a:solidFill>
                  <a:srgbClr val="D0D0CE"/>
                </a:solidFill>
              </a:rPr>
              <a:t>cites the error it used</a:t>
            </a:r>
            <a:endParaRPr lang="en-US" sz="1400" dirty="0"/>
          </a:p>
        </p:txBody>
      </p:sp>
      <p:sp>
        <p:nvSpPr>
          <p:cNvPr id="6" name="Shape 4"/>
          <p:cNvSpPr/>
          <p:nvPr/>
        </p:nvSpPr>
        <p:spPr>
          <a:xfrm>
            <a:off x="2560320" y="3383280"/>
            <a:ext cx="365760" cy="0"/>
          </a:xfrm>
          <a:prstGeom prst="line">
            <a:avLst/>
          </a:prstGeom>
          <a:noFill/>
          <a:ln w="19050">
            <a:solidFill>
              <a:schemeClr val="accent6"/>
            </a:solidFill>
            <a:prstDash val="solid"/>
            <a:tailEnd type="triangle"/>
          </a:ln>
        </p:spPr>
      </p:sp>
      <p:sp>
        <p:nvSpPr>
          <p:cNvPr id="7" name="Shape 5"/>
          <p:cNvSpPr/>
          <p:nvPr/>
        </p:nvSpPr>
        <p:spPr>
          <a:xfrm>
            <a:off x="4754880" y="3383280"/>
            <a:ext cx="365760" cy="0"/>
          </a:xfrm>
          <a:prstGeom prst="line">
            <a:avLst/>
          </a:prstGeom>
          <a:noFill/>
          <a:ln w="19050">
            <a:solidFill>
              <a:schemeClr val="accent6"/>
            </a:solidFill>
            <a:prstDash val="solid"/>
          </a:ln>
        </p:spPr>
      </p:sp>
      <p:sp>
        <p:nvSpPr>
          <p:cNvPr id="8" name="Shape 6"/>
          <p:cNvSpPr/>
          <p:nvPr/>
        </p:nvSpPr>
        <p:spPr>
          <a:xfrm>
            <a:off x="5120640" y="2514600"/>
            <a:ext cx="0" cy="1737360"/>
          </a:xfrm>
          <a:prstGeom prst="line">
            <a:avLst/>
          </a:prstGeom>
          <a:noFill/>
          <a:ln w="19050">
            <a:solidFill>
              <a:schemeClr val="accent6"/>
            </a:solidFill>
            <a:prstDash val="solid"/>
          </a:ln>
        </p:spPr>
      </p:sp>
      <p:sp>
        <p:nvSpPr>
          <p:cNvPr id="9" name="Shape 7"/>
          <p:cNvSpPr/>
          <p:nvPr/>
        </p:nvSpPr>
        <p:spPr>
          <a:xfrm>
            <a:off x="5120640" y="2514600"/>
            <a:ext cx="365760" cy="0"/>
          </a:xfrm>
          <a:prstGeom prst="line">
            <a:avLst/>
          </a:prstGeom>
          <a:noFill/>
          <a:ln w="19050">
            <a:solidFill>
              <a:schemeClr val="accent6"/>
            </a:solidFill>
            <a:prstDash val="solid"/>
            <a:tailEnd type="triangle"/>
          </a:ln>
        </p:spPr>
      </p:sp>
      <p:sp>
        <p:nvSpPr>
          <p:cNvPr id="10" name="Shape 8"/>
          <p:cNvSpPr/>
          <p:nvPr/>
        </p:nvSpPr>
        <p:spPr>
          <a:xfrm>
            <a:off x="5120640" y="4251960"/>
            <a:ext cx="365760" cy="0"/>
          </a:xfrm>
          <a:prstGeom prst="line">
            <a:avLst/>
          </a:prstGeom>
          <a:noFill/>
          <a:ln w="19050">
            <a:solidFill>
              <a:schemeClr val="accent6"/>
            </a:solidFill>
            <a:prstDash val="solid"/>
            <a:tailEnd type="triangle"/>
          </a:ln>
        </p:spPr>
      </p:sp>
      <p:sp>
        <p:nvSpPr>
          <p:cNvPr id="11" name="SailPoint side"/>
          <p:cNvSpPr/>
          <p:nvPr/>
        </p:nvSpPr>
        <p:spPr>
          <a:xfrm>
            <a:off x="5486400" y="1783080"/>
            <a:ext cx="2468880" cy="1463040"/>
          </a:xfrm>
          <a:prstGeom prst="roundRect">
            <a:avLst>
              <a:gd name="adj" fmla="val 5000"/>
            </a:avLst>
          </a:prstGeom>
          <a:solidFill>
            <a:schemeClr val="bg1"/>
          </a:solidFill>
          <a:ln w="12700">
            <a:solidFill>
              <a:schemeClr val="tx1"/>
            </a:solidFill>
            <a:prstDash val="solid"/>
          </a:ln>
        </p:spPr>
        <p:txBody>
          <a:bodyPr wrap="square" lIns="76200" tIns="76200" rIns="76200" bIns="76200" rtlCol="0" anchor="ctr"/>
          <a:lstStyle/>
          <a:p>
            <a:pPr algn="l" indent="0" marL="0">
              <a:spcAft>
                <a:spcPts val="200"/>
              </a:spcAft>
              <a:buNone/>
            </a:pPr>
            <a:r>
              <a:rPr lang="en-US" sz="1400" b="1" dirty="0">
                <a:solidFill>
                  <a:schemeClr val="tx1"/>
                </a:solidFill>
              </a:rPr>
              <a:t>SailPoint side</a:t>
            </a:r>
            <a:endParaRPr lang="en-US" sz="1400" dirty="0"/>
          </a:p>
          <a:p>
            <a:pPr algn="l" indent="0" marL="0">
              <a:spcAft>
                <a:spcPts val="200"/>
              </a:spcAft>
              <a:buNone/>
            </a:pPr>
            <a:r>
              <a:rPr lang="en-US" sz="1300" dirty="0">
                <a:solidFill>
                  <a:schemeClr val="tx2"/>
                </a:solidFill>
              </a:rPr>
              <a:t>The agent fixes the source settings itself and reruns the step.</a:t>
            </a:r>
            <a:endParaRPr lang="en-US" sz="1400" dirty="0"/>
          </a:p>
        </p:txBody>
      </p:sp>
      <p:sp>
        <p:nvSpPr>
          <p:cNvPr id="12" name="Application side"/>
          <p:cNvSpPr/>
          <p:nvPr/>
        </p:nvSpPr>
        <p:spPr>
          <a:xfrm>
            <a:off x="5486400" y="3520440"/>
            <a:ext cx="2468880" cy="1463040"/>
          </a:xfrm>
          <a:prstGeom prst="roundRect">
            <a:avLst>
              <a:gd name="adj" fmla="val 5000"/>
            </a:avLst>
          </a:prstGeom>
          <a:solidFill>
            <a:srgbClr val="F2F8FC"/>
          </a:solidFill>
          <a:ln/>
        </p:spPr>
        <p:txBody>
          <a:bodyPr wrap="square" lIns="76200" tIns="76200" rIns="76200" bIns="76200" rtlCol="0" anchor="ctr"/>
          <a:lstStyle/>
          <a:p>
            <a:pPr algn="l" indent="0" marL="0">
              <a:spcAft>
                <a:spcPts val="200"/>
              </a:spcAft>
              <a:buNone/>
            </a:pPr>
            <a:r>
              <a:rPr lang="en-US" sz="1400" b="1" dirty="0">
                <a:solidFill>
                  <a:srgbClr val="005587"/>
                </a:solidFill>
              </a:rPr>
              <a:t>Application side</a:t>
            </a:r>
            <a:endParaRPr lang="en-US" sz="1400" dirty="0"/>
          </a:p>
          <a:p>
            <a:pPr algn="l" indent="0" marL="0">
              <a:spcAft>
                <a:spcPts val="200"/>
              </a:spcAft>
              <a:buNone/>
            </a:pPr>
            <a:r>
              <a:rPr lang="en-US" sz="1300" dirty="0">
                <a:solidFill>
                  <a:schemeClr val="tx2"/>
                </a:solidFill>
              </a:rPr>
              <a:t>The owner gets read-only checks first, then the fix.</a:t>
            </a:r>
            <a:endParaRPr lang="en-US" sz="1400" dirty="0"/>
          </a:p>
        </p:txBody>
      </p:sp>
      <p:sp>
        <p:nvSpPr>
          <p:cNvPr id="13" name="Text 11"/>
          <p:cNvSpPr txBox="1"/>
          <p:nvPr/>
        </p:nvSpPr>
        <p:spPr>
          <a:xfrm>
            <a:off x="548640" y="5257800"/>
            <a:ext cx="7406640" cy="731520"/>
          </a:xfrm>
          <a:prstGeom prst="rect">
            <a:avLst/>
          </a:prstGeom>
          <a:noFill/>
          <a:ln/>
        </p:spPr>
        <p:txBody>
          <a:bodyPr wrap="square" lIns="0" tIns="0" rIns="0" bIns="0" rtlCol="0" anchor="t"/>
          <a:lstStyle/>
          <a:p>
            <a:pPr indent="0" marL="0">
              <a:buNone/>
            </a:pPr>
            <a:r>
              <a:rPr lang="en-US" sz="1300" b="1" dirty="0">
                <a:solidFill>
                  <a:schemeClr val="tx1"/>
                </a:solidFill>
              </a:rPr>
              <a:t>Known AWS failures it recognises: </a:t>
            </a:r>
            <a:pPr indent="0" marL="0">
              <a:buNone/>
            </a:pPr>
            <a:r>
              <a:rPr lang="en-US" sz="1300" dirty="0">
                <a:solidFill>
                  <a:schemeClr val="tx2"/>
                </a:solidFill>
              </a:rPr>
              <a:t>External ID missing from the trust, missing schema settings, discovery permissions, change-password policy, role-name collisions.</a:t>
            </a:r>
            <a:endParaRPr lang="en-US" sz="1300" dirty="0"/>
          </a:p>
        </p:txBody>
      </p:sp>
      <p:sp>
        <p:nvSpPr>
          <p:cNvPr id="14" name="Diagnosis target panel"/>
          <p:cNvSpPr/>
          <p:nvPr/>
        </p:nvSpPr>
        <p:spPr>
          <a:xfrm>
            <a:off x="8412480" y="1783080"/>
            <a:ext cx="3200400" cy="4206240"/>
          </a:xfrm>
          <a:prstGeom prst="roundRect">
            <a:avLst>
              <a:gd name="adj" fmla="val 2286"/>
            </a:avLst>
          </a:prstGeom>
          <a:solidFill>
            <a:schemeClr val="tx1"/>
          </a:solidFill>
          <a:ln/>
        </p:spPr>
      </p:sp>
      <p:sp>
        <p:nvSpPr>
          <p:cNvPr id="15" name="Text 13"/>
          <p:cNvSpPr txBox="1"/>
          <p:nvPr/>
        </p:nvSpPr>
        <p:spPr>
          <a:xfrm>
            <a:off x="8686800" y="2103120"/>
            <a:ext cx="2743200" cy="914400"/>
          </a:xfrm>
          <a:prstGeom prst="rect">
            <a:avLst/>
          </a:prstGeom>
          <a:noFill/>
          <a:ln/>
        </p:spPr>
        <p:txBody>
          <a:bodyPr wrap="square" lIns="0" tIns="0" rIns="0" bIns="0" rtlCol="0" anchor="ctr"/>
          <a:lstStyle/>
          <a:p>
            <a:pPr indent="0" marL="0">
              <a:buNone/>
            </a:pPr>
            <a:r>
              <a:rPr lang="en-US" sz="4400" b="1" dirty="0">
                <a:solidFill>
                  <a:schemeClr val="accent1"/>
                </a:solidFill>
              </a:rPr>
              <a:t>9 in 10</a:t>
            </a:r>
            <a:endParaRPr lang="en-US" sz="4400" dirty="0"/>
          </a:p>
        </p:txBody>
      </p:sp>
      <p:sp>
        <p:nvSpPr>
          <p:cNvPr id="16" name="Text 14"/>
          <p:cNvSpPr txBox="1"/>
          <p:nvPr/>
        </p:nvSpPr>
        <p:spPr>
          <a:xfrm>
            <a:off x="8686800" y="3108960"/>
            <a:ext cx="2651760" cy="1371600"/>
          </a:xfrm>
          <a:prstGeom prst="rect">
            <a:avLst/>
          </a:prstGeom>
          <a:noFill/>
          <a:ln/>
        </p:spPr>
        <p:txBody>
          <a:bodyPr wrap="square" lIns="0" tIns="0" rIns="0" bIns="0" rtlCol="0" anchor="t"/>
          <a:lstStyle/>
          <a:p>
            <a:pPr indent="0" marL="0">
              <a:buNone/>
            </a:pPr>
            <a:r>
              <a:rPr lang="en-US" sz="1500" dirty="0">
                <a:solidFill>
                  <a:schemeClr val="bg1"/>
                </a:solidFill>
              </a:rPr>
              <a:t>trials where the agent names the right cause in its first reply, and its fix makes the step pass.</a:t>
            </a:r>
            <a:endParaRPr lang="en-US" sz="1500" dirty="0"/>
          </a:p>
        </p:txBody>
      </p:sp>
      <p:sp>
        <p:nvSpPr>
          <p:cNvPr id="17" name="Text 15"/>
          <p:cNvSpPr txBox="1"/>
          <p:nvPr/>
        </p:nvSpPr>
        <p:spPr>
          <a:xfrm>
            <a:off x="8686800" y="4754880"/>
            <a:ext cx="2651760" cy="914400"/>
          </a:xfrm>
          <a:prstGeom prst="rect">
            <a:avLst/>
          </a:prstGeom>
          <a:noFill/>
          <a:ln/>
        </p:spPr>
        <p:txBody>
          <a:bodyPr wrap="square" lIns="0" tIns="0" rIns="0" bIns="0" rtlCol="0" anchor="t"/>
          <a:lstStyle/>
          <a:p>
            <a:pPr indent="0" marL="0">
              <a:buNone/>
            </a:pPr>
            <a:r>
              <a:rPr lang="en-US" sz="1100" dirty="0">
                <a:solidFill>
                  <a:srgbClr val="A7A8AA"/>
                </a:solidFill>
              </a:rPr>
              <a:t>Known transient errors are retried once before escalating. Spec target SC-005.</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Architecture at a glance</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User data stays on your cluster. Only the agent runs in AWS, and it receives one turn at a time.</a:t>
            </a:r>
            <a:endParaRPr lang="en-US" sz="1600" dirty="0"/>
          </a:p>
        </p:txBody>
      </p:sp>
      <p:sp>
        <p:nvSpPr>
          <p:cNvPr id="4" name="People"/>
          <p:cNvSpPr/>
          <p:nvPr/>
        </p:nvSpPr>
        <p:spPr>
          <a:xfrm>
            <a:off x="457200" y="1691640"/>
            <a:ext cx="1828800" cy="4114800"/>
          </a:xfrm>
          <a:prstGeom prst="roundRect">
            <a:avLst>
              <a:gd name="adj" fmla="val 3000"/>
            </a:avLst>
          </a:prstGeom>
          <a:solidFill>
            <a:schemeClr val="bg2"/>
          </a:solidFill>
          <a:ln w="12700">
            <a:solidFill>
              <a:srgbClr val="D0D0CE"/>
            </a:solidFill>
            <a:prstDash val="solid"/>
          </a:ln>
        </p:spPr>
      </p:sp>
      <p:sp>
        <p:nvSpPr>
          <p:cNvPr id="5" name="Text 3"/>
          <p:cNvSpPr txBox="1"/>
          <p:nvPr/>
        </p:nvSpPr>
        <p:spPr>
          <a:xfrm>
            <a:off x="594360" y="1755648"/>
            <a:ext cx="1554480" cy="274320"/>
          </a:xfrm>
          <a:prstGeom prst="rect">
            <a:avLst/>
          </a:prstGeom>
          <a:noFill/>
          <a:ln/>
        </p:spPr>
        <p:txBody>
          <a:bodyPr wrap="square" lIns="0" tIns="0" rIns="0" bIns="0" rtlCol="0" anchor="ctr"/>
          <a:lstStyle/>
          <a:p>
            <a:pPr indent="0" marL="0">
              <a:buNone/>
            </a:pPr>
            <a:r>
              <a:rPr lang="en-US" sz="1000" b="1" dirty="0">
                <a:solidFill>
                  <a:schemeClr val="tx2"/>
                </a:solidFill>
              </a:rPr>
              <a:t>People</a:t>
            </a:r>
            <a:endParaRPr lang="en-US" sz="1000" dirty="0"/>
          </a:p>
        </p:txBody>
      </p:sp>
      <p:sp>
        <p:nvSpPr>
          <p:cNvPr id="6" name="Your Kubernetes cluster · onboarding"/>
          <p:cNvSpPr/>
          <p:nvPr/>
        </p:nvSpPr>
        <p:spPr>
          <a:xfrm>
            <a:off x="2606040" y="1691640"/>
            <a:ext cx="3749040" cy="4114800"/>
          </a:xfrm>
          <a:prstGeom prst="roundRect">
            <a:avLst>
              <a:gd name="adj" fmla="val 1463"/>
            </a:avLst>
          </a:prstGeom>
          <a:solidFill>
            <a:srgbClr val="EEF6F6"/>
          </a:solidFill>
          <a:ln w="12700">
            <a:solidFill>
              <a:srgbClr val="007680"/>
            </a:solidFill>
            <a:prstDash val="solid"/>
          </a:ln>
        </p:spPr>
      </p:sp>
      <p:sp>
        <p:nvSpPr>
          <p:cNvPr id="7" name="Text 5"/>
          <p:cNvSpPr txBox="1"/>
          <p:nvPr/>
        </p:nvSpPr>
        <p:spPr>
          <a:xfrm>
            <a:off x="2743200" y="1755648"/>
            <a:ext cx="3474720" cy="274320"/>
          </a:xfrm>
          <a:prstGeom prst="rect">
            <a:avLst/>
          </a:prstGeom>
          <a:noFill/>
          <a:ln/>
        </p:spPr>
        <p:txBody>
          <a:bodyPr wrap="square" lIns="0" tIns="0" rIns="0" bIns="0" rtlCol="0" anchor="ctr"/>
          <a:lstStyle/>
          <a:p>
            <a:pPr indent="0" marL="0">
              <a:buNone/>
            </a:pPr>
            <a:r>
              <a:rPr lang="en-US" sz="1000" b="1" dirty="0">
                <a:solidFill>
                  <a:srgbClr val="005F66"/>
                </a:solidFill>
              </a:rPr>
              <a:t>Your Kubernetes cluster · onboarding</a:t>
            </a:r>
            <a:endParaRPr lang="en-US" sz="1000" dirty="0"/>
          </a:p>
        </p:txBody>
      </p:sp>
      <p:sp>
        <p:nvSpPr>
          <p:cNvPr id="8" name="AWS · ap-southeast-1"/>
          <p:cNvSpPr/>
          <p:nvPr/>
        </p:nvSpPr>
        <p:spPr>
          <a:xfrm>
            <a:off x="7086600" y="1691640"/>
            <a:ext cx="2377440" cy="4114800"/>
          </a:xfrm>
          <a:prstGeom prst="roundRect">
            <a:avLst>
              <a:gd name="adj" fmla="val 2308"/>
            </a:avLst>
          </a:prstGeom>
          <a:solidFill>
            <a:srgbClr val="F2F8FC"/>
          </a:solidFill>
          <a:ln w="12700">
            <a:solidFill>
              <a:srgbClr val="0076A8"/>
            </a:solidFill>
            <a:prstDash val="solid"/>
          </a:ln>
        </p:spPr>
      </p:sp>
      <p:sp>
        <p:nvSpPr>
          <p:cNvPr id="9" name="Text 7"/>
          <p:cNvSpPr txBox="1"/>
          <p:nvPr/>
        </p:nvSpPr>
        <p:spPr>
          <a:xfrm>
            <a:off x="7223760" y="1755648"/>
            <a:ext cx="2103120" cy="274320"/>
          </a:xfrm>
          <a:prstGeom prst="rect">
            <a:avLst/>
          </a:prstGeom>
          <a:noFill/>
          <a:ln/>
        </p:spPr>
        <p:txBody>
          <a:bodyPr wrap="square" lIns="0" tIns="0" rIns="0" bIns="0" rtlCol="0" anchor="ctr"/>
          <a:lstStyle/>
          <a:p>
            <a:pPr indent="0" marL="0">
              <a:buNone/>
            </a:pPr>
            <a:r>
              <a:rPr lang="en-US" sz="1000" b="1" dirty="0">
                <a:solidFill>
                  <a:srgbClr val="005587"/>
                </a:solidFill>
              </a:rPr>
              <a:t>AWS · ap-southeast-1</a:t>
            </a:r>
            <a:endParaRPr lang="en-US" sz="1000" dirty="0"/>
          </a:p>
        </p:txBody>
      </p:sp>
      <p:sp>
        <p:nvSpPr>
          <p:cNvPr id="10" name="Shape 8"/>
          <p:cNvSpPr/>
          <p:nvPr/>
        </p:nvSpPr>
        <p:spPr>
          <a:xfrm>
            <a:off x="2148840" y="2697480"/>
            <a:ext cx="685800" cy="0"/>
          </a:xfrm>
          <a:prstGeom prst="line">
            <a:avLst/>
          </a:prstGeom>
          <a:noFill/>
          <a:ln w="19050">
            <a:solidFill>
              <a:schemeClr val="accent6"/>
            </a:solidFill>
            <a:prstDash val="solid"/>
            <a:tailEnd type="triangle"/>
          </a:ln>
        </p:spPr>
      </p:sp>
      <p:sp>
        <p:nvSpPr>
          <p:cNvPr id="11" name="Shape 9"/>
          <p:cNvSpPr/>
          <p:nvPr/>
        </p:nvSpPr>
        <p:spPr>
          <a:xfrm>
            <a:off x="2148840" y="3794760"/>
            <a:ext cx="685800" cy="0"/>
          </a:xfrm>
          <a:prstGeom prst="line">
            <a:avLst/>
          </a:prstGeom>
          <a:noFill/>
          <a:ln w="19050">
            <a:solidFill>
              <a:schemeClr val="accent6"/>
            </a:solidFill>
            <a:prstDash val="solid"/>
            <a:tailEnd type="triangle"/>
          </a:ln>
        </p:spPr>
      </p:sp>
      <p:sp>
        <p:nvSpPr>
          <p:cNvPr id="12" name="Shape 10"/>
          <p:cNvSpPr/>
          <p:nvPr/>
        </p:nvSpPr>
        <p:spPr>
          <a:xfrm>
            <a:off x="1371600" y="4206240"/>
            <a:ext cx="0" cy="548640"/>
          </a:xfrm>
          <a:prstGeom prst="line">
            <a:avLst/>
          </a:prstGeom>
          <a:noFill/>
          <a:ln w="19050">
            <a:solidFill>
              <a:schemeClr val="accent6"/>
            </a:solidFill>
            <a:prstDash val="dash"/>
            <a:tailEnd type="triangle"/>
          </a:ln>
        </p:spPr>
      </p:sp>
      <p:sp>
        <p:nvSpPr>
          <p:cNvPr id="13" name="Shape 11"/>
          <p:cNvSpPr/>
          <p:nvPr/>
        </p:nvSpPr>
        <p:spPr>
          <a:xfrm>
            <a:off x="4206240" y="3154680"/>
            <a:ext cx="411480" cy="0"/>
          </a:xfrm>
          <a:prstGeom prst="line">
            <a:avLst/>
          </a:prstGeom>
          <a:noFill/>
          <a:ln w="19050">
            <a:solidFill>
              <a:schemeClr val="accent6"/>
            </a:solidFill>
            <a:prstDash val="solid"/>
            <a:tailEnd type="triangle"/>
          </a:ln>
        </p:spPr>
      </p:sp>
      <p:sp>
        <p:nvSpPr>
          <p:cNvPr id="14" name="Shape 12"/>
          <p:cNvSpPr/>
          <p:nvPr/>
        </p:nvSpPr>
        <p:spPr>
          <a:xfrm>
            <a:off x="5394960" y="4023360"/>
            <a:ext cx="0" cy="457200"/>
          </a:xfrm>
          <a:prstGeom prst="line">
            <a:avLst/>
          </a:prstGeom>
          <a:noFill/>
          <a:ln w="19050">
            <a:solidFill>
              <a:schemeClr val="accent6"/>
            </a:solidFill>
            <a:prstDash val="solid"/>
            <a:tailEnd type="triangle"/>
          </a:ln>
        </p:spPr>
      </p:sp>
      <p:sp>
        <p:nvSpPr>
          <p:cNvPr id="15" name="Shape 13"/>
          <p:cNvSpPr/>
          <p:nvPr/>
        </p:nvSpPr>
        <p:spPr>
          <a:xfrm>
            <a:off x="6172200" y="3703320"/>
            <a:ext cx="1097280" cy="0"/>
          </a:xfrm>
          <a:prstGeom prst="line">
            <a:avLst/>
          </a:prstGeom>
          <a:noFill/>
          <a:ln w="25400">
            <a:solidFill>
              <a:schemeClr val="tx1"/>
            </a:solidFill>
            <a:prstDash val="solid"/>
            <a:tailEnd type="triangle"/>
          </a:ln>
        </p:spPr>
      </p:sp>
      <p:sp>
        <p:nvSpPr>
          <p:cNvPr id="16" name="Text 14"/>
          <p:cNvSpPr txBox="1"/>
          <p:nvPr/>
        </p:nvSpPr>
        <p:spPr>
          <a:xfrm>
            <a:off x="6263640" y="3310128"/>
            <a:ext cx="914400" cy="365760"/>
          </a:xfrm>
          <a:prstGeom prst="rect">
            <a:avLst/>
          </a:prstGeom>
          <a:noFill/>
          <a:ln/>
        </p:spPr>
        <p:txBody>
          <a:bodyPr wrap="square" lIns="0" tIns="0" rIns="0" bIns="0" rtlCol="0" anchor="ctr"/>
          <a:lstStyle/>
          <a:p>
            <a:pPr algn="ctr" indent="0" marL="0">
              <a:buNone/>
            </a:pPr>
            <a:r>
              <a:rPr lang="en-US" sz="900" dirty="0">
                <a:solidFill>
                  <a:schemeClr val="accent6"/>
                </a:solidFill>
              </a:rPr>
              <a:t>1 turn at a time</a:t>
            </a:r>
            <a:endParaRPr lang="en-US" sz="900" dirty="0"/>
          </a:p>
        </p:txBody>
      </p:sp>
      <p:sp>
        <p:nvSpPr>
          <p:cNvPr id="17" name="Shape 15"/>
          <p:cNvSpPr/>
          <p:nvPr/>
        </p:nvSpPr>
        <p:spPr>
          <a:xfrm flipV="1">
            <a:off x="8275320" y="2880360"/>
            <a:ext cx="0" cy="365760"/>
          </a:xfrm>
          <a:prstGeom prst="line">
            <a:avLst/>
          </a:prstGeom>
          <a:noFill/>
          <a:ln w="19050">
            <a:solidFill>
              <a:schemeClr val="accent6"/>
            </a:solidFill>
            <a:prstDash val="solid"/>
            <a:tailEnd type="triangle"/>
          </a:ln>
        </p:spPr>
      </p:sp>
      <p:sp>
        <p:nvSpPr>
          <p:cNvPr id="18" name="Shape 16"/>
          <p:cNvSpPr/>
          <p:nvPr/>
        </p:nvSpPr>
        <p:spPr>
          <a:xfrm>
            <a:off x="8275320" y="4160520"/>
            <a:ext cx="0" cy="411480"/>
          </a:xfrm>
          <a:prstGeom prst="line">
            <a:avLst/>
          </a:prstGeom>
          <a:noFill/>
          <a:ln w="19050">
            <a:solidFill>
              <a:schemeClr val="accent6"/>
            </a:solidFill>
            <a:prstDash val="solid"/>
            <a:tailEnd type="triangle"/>
          </a:ln>
        </p:spPr>
      </p:sp>
      <p:sp>
        <p:nvSpPr>
          <p:cNvPr id="19" name="Shape 17"/>
          <p:cNvSpPr/>
          <p:nvPr/>
        </p:nvSpPr>
        <p:spPr>
          <a:xfrm>
            <a:off x="9281160" y="3703320"/>
            <a:ext cx="548640" cy="0"/>
          </a:xfrm>
          <a:prstGeom prst="line">
            <a:avLst/>
          </a:prstGeom>
          <a:noFill/>
          <a:ln w="25400">
            <a:solidFill>
              <a:schemeClr val="tx1"/>
            </a:solidFill>
            <a:prstDash val="solid"/>
            <a:tailEnd type="triangle"/>
          </a:ln>
        </p:spPr>
      </p:sp>
      <p:sp>
        <p:nvSpPr>
          <p:cNvPr id="20" name="Text 18"/>
          <p:cNvSpPr txBox="1"/>
          <p:nvPr/>
        </p:nvSpPr>
        <p:spPr>
          <a:xfrm>
            <a:off x="9281160" y="3364992"/>
            <a:ext cx="548640" cy="274320"/>
          </a:xfrm>
          <a:prstGeom prst="rect">
            <a:avLst/>
          </a:prstGeom>
          <a:noFill/>
          <a:ln/>
        </p:spPr>
        <p:txBody>
          <a:bodyPr wrap="square" lIns="0" tIns="0" rIns="0" bIns="0" rtlCol="0" anchor="ctr"/>
          <a:lstStyle/>
          <a:p>
            <a:pPr algn="ctr" indent="0" marL="0">
              <a:buNone/>
            </a:pPr>
            <a:r>
              <a:rPr lang="en-US" sz="900" dirty="0">
                <a:solidFill>
                  <a:schemeClr val="accent6"/>
                </a:solidFill>
              </a:rPr>
              <a:t>REST</a:t>
            </a:r>
            <a:endParaRPr lang="en-US" sz="900" dirty="0"/>
          </a:p>
        </p:txBody>
      </p:sp>
      <p:sp>
        <p:nvSpPr>
          <p:cNvPr id="21" name="IAM engineer"/>
          <p:cNvSpPr/>
          <p:nvPr/>
        </p:nvSpPr>
        <p:spPr>
          <a:xfrm>
            <a:off x="594360" y="2286000"/>
            <a:ext cx="1554480" cy="822960"/>
          </a:xfrm>
          <a:prstGeom prst="roundRect">
            <a:avLst>
              <a:gd name="adj" fmla="val 8889"/>
            </a:avLst>
          </a:prstGeom>
          <a:solidFill>
            <a:schemeClr val="bg1"/>
          </a:solidFill>
          <a:ln/>
        </p:spPr>
        <p:txBody>
          <a:bodyPr wrap="square" lIns="76200" tIns="76200" rIns="76200" bIns="76200" rtlCol="0" anchor="ctr"/>
          <a:lstStyle/>
          <a:p>
            <a:pPr algn="ctr" indent="0" marL="0">
              <a:spcAft>
                <a:spcPts val="200"/>
              </a:spcAft>
              <a:buNone/>
            </a:pPr>
            <a:r>
              <a:rPr lang="en-US" sz="1200" b="1" dirty="0">
                <a:solidFill>
                  <a:schemeClr val="tx1"/>
                </a:solidFill>
              </a:rPr>
              <a:t>IAM engineer</a:t>
            </a:r>
            <a:endParaRPr lang="en-US" sz="1200" dirty="0"/>
          </a:p>
          <a:p>
            <a:pPr algn="ctr" indent="0" marL="0">
              <a:spcAft>
                <a:spcPts val="200"/>
              </a:spcAft>
              <a:buNone/>
            </a:pPr>
            <a:r>
              <a:rPr lang="en-US" sz="1000" dirty="0">
                <a:solidFill>
                  <a:schemeClr val="tx2"/>
                </a:solidFill>
              </a:rPr>
              <a:t>browser screen</a:t>
            </a:r>
            <a:endParaRPr lang="en-US" sz="1200" dirty="0"/>
          </a:p>
        </p:txBody>
      </p:sp>
      <p:sp>
        <p:nvSpPr>
          <p:cNvPr id="22" name="Application owner"/>
          <p:cNvSpPr/>
          <p:nvPr/>
        </p:nvSpPr>
        <p:spPr>
          <a:xfrm>
            <a:off x="594360" y="3383280"/>
            <a:ext cx="1554480" cy="822960"/>
          </a:xfrm>
          <a:prstGeom prst="roundRect">
            <a:avLst>
              <a:gd name="adj" fmla="val 8889"/>
            </a:avLst>
          </a:prstGeom>
          <a:solidFill>
            <a:schemeClr val="bg1"/>
          </a:solidFill>
          <a:ln/>
        </p:spPr>
        <p:txBody>
          <a:bodyPr wrap="square" lIns="76200" tIns="76200" rIns="76200" bIns="76200" rtlCol="0" anchor="ctr"/>
          <a:lstStyle/>
          <a:p>
            <a:pPr algn="ctr" indent="0" marL="0">
              <a:spcAft>
                <a:spcPts val="200"/>
              </a:spcAft>
              <a:buNone/>
            </a:pPr>
            <a:r>
              <a:rPr lang="en-US" sz="1200" b="1" dirty="0">
                <a:solidFill>
                  <a:srgbClr val="005587"/>
                </a:solidFill>
              </a:rPr>
              <a:t>Application owner</a:t>
            </a:r>
            <a:endParaRPr lang="en-US" sz="1200" dirty="0"/>
          </a:p>
          <a:p>
            <a:pPr algn="ctr" indent="0" marL="0">
              <a:spcAft>
                <a:spcPts val="200"/>
              </a:spcAft>
              <a:buNone/>
            </a:pPr>
            <a:r>
              <a:rPr lang="en-US" sz="1000" dirty="0">
                <a:solidFill>
                  <a:schemeClr val="tx2"/>
                </a:solidFill>
              </a:rPr>
              <a:t>browser screen</a:t>
            </a:r>
            <a:endParaRPr lang="en-US" sz="1200" dirty="0"/>
          </a:p>
        </p:txBody>
      </p:sp>
      <p:sp>
        <p:nvSpPr>
          <p:cNvPr id="23" name="Application"/>
          <p:cNvSpPr/>
          <p:nvPr/>
        </p:nvSpPr>
        <p:spPr>
          <a:xfrm>
            <a:off x="594360" y="4754880"/>
            <a:ext cx="1554480" cy="822960"/>
          </a:xfrm>
          <a:prstGeom prst="roundRect">
            <a:avLst>
              <a:gd name="adj" fmla="val 8889"/>
            </a:avLst>
          </a:prstGeom>
          <a:solidFill>
            <a:schemeClr val="bg1"/>
          </a:solidFill>
          <a:ln w="12700">
            <a:solidFill>
              <a:schemeClr val="accent6"/>
            </a:solidFill>
            <a:prstDash val="dash"/>
          </a:ln>
        </p:spPr>
        <p:txBody>
          <a:bodyPr wrap="square" lIns="76200" tIns="76200" rIns="76200" bIns="76200" rtlCol="0" anchor="ctr"/>
          <a:lstStyle/>
          <a:p>
            <a:pPr algn="ctr" indent="0" marL="0">
              <a:spcAft>
                <a:spcPts val="200"/>
              </a:spcAft>
              <a:buNone/>
            </a:pPr>
            <a:r>
              <a:rPr lang="en-US" sz="1200" b="1" dirty="0">
                <a:solidFill>
                  <a:schemeClr val="tx1"/>
                </a:solidFill>
              </a:rPr>
              <a:t>Application</a:t>
            </a:r>
            <a:endParaRPr lang="en-US" sz="1200" dirty="0"/>
          </a:p>
          <a:p>
            <a:pPr algn="ctr" indent="0" marL="0">
              <a:spcAft>
                <a:spcPts val="200"/>
              </a:spcAft>
              <a:buNone/>
            </a:pPr>
            <a:r>
              <a:rPr lang="en-US" sz="1000" dirty="0">
                <a:solidFill>
                  <a:schemeClr val="tx2"/>
                </a:solidFill>
              </a:rPr>
              <a:t>e.g. AWS org</a:t>
            </a:r>
            <a:endParaRPr lang="en-US" sz="1200" dirty="0"/>
          </a:p>
        </p:txBody>
      </p:sp>
      <p:sp>
        <p:nvSpPr>
          <p:cNvPr id="24" name="Web app"/>
          <p:cNvSpPr/>
          <p:nvPr/>
        </p:nvSpPr>
        <p:spPr>
          <a:xfrm>
            <a:off x="2834640" y="2286000"/>
            <a:ext cx="1371600" cy="1920240"/>
          </a:xfrm>
          <a:prstGeom prst="roundRect">
            <a:avLst>
              <a:gd name="adj" fmla="val 5333"/>
            </a:avLst>
          </a:prstGeom>
          <a:solidFill>
            <a:schemeClr val="bg1"/>
          </a:solidFill>
          <a:ln w="12700">
            <a:solidFill>
              <a:srgbClr val="007680"/>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Web app</a:t>
            </a:r>
            <a:endParaRPr lang="en-US" sz="1200" dirty="0"/>
          </a:p>
          <a:p>
            <a:pPr algn="ctr" indent="0" marL="0">
              <a:spcAft>
                <a:spcPts val="200"/>
              </a:spcAft>
              <a:buNone/>
            </a:pPr>
            <a:r>
              <a:rPr lang="en-US" sz="1000" dirty="0">
                <a:solidFill>
                  <a:schemeClr val="tx2"/>
                </a:solidFill>
              </a:rPr>
              <a:t>Angular on nginx</a:t>
            </a:r>
            <a:endParaRPr lang="en-US" sz="1200" dirty="0"/>
          </a:p>
          <a:p>
            <a:pPr algn="ctr" indent="0" marL="0">
              <a:spcAft>
                <a:spcPts val="200"/>
              </a:spcAft>
              <a:buNone/>
            </a:pPr>
            <a:r>
              <a:rPr lang="en-US" sz="1000" dirty="0">
                <a:solidFill>
                  <a:schemeClr val="tx2"/>
                </a:solidFill>
              </a:rPr>
              <a:t>one screen per role</a:t>
            </a:r>
            <a:endParaRPr lang="en-US" sz="1200" dirty="0"/>
          </a:p>
        </p:txBody>
      </p:sp>
      <p:sp>
        <p:nvSpPr>
          <p:cNvPr id="25" name="Session API"/>
          <p:cNvSpPr/>
          <p:nvPr/>
        </p:nvSpPr>
        <p:spPr>
          <a:xfrm>
            <a:off x="4617720" y="2286000"/>
            <a:ext cx="1554480" cy="1737360"/>
          </a:xfrm>
          <a:prstGeom prst="roundRect">
            <a:avLst>
              <a:gd name="adj" fmla="val 4706"/>
            </a:avLst>
          </a:prstGeom>
          <a:solidFill>
            <a:schemeClr val="bg1"/>
          </a:solidFill>
          <a:ln w="12700">
            <a:solidFill>
              <a:srgbClr val="007680"/>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Session API</a:t>
            </a:r>
            <a:endParaRPr lang="en-US" sz="1200" dirty="0"/>
          </a:p>
          <a:p>
            <a:pPr algn="ctr" indent="0" marL="0">
              <a:spcAft>
                <a:spcPts val="200"/>
              </a:spcAft>
              <a:buNone/>
            </a:pPr>
            <a:r>
              <a:rPr lang="en-US" sz="1000" dirty="0">
                <a:solidFill>
                  <a:schemeClr val="tx2"/>
                </a:solidFill>
              </a:rPr>
              <a:t>FastAPI</a:t>
            </a:r>
            <a:endParaRPr lang="en-US" sz="1200" dirty="0"/>
          </a:p>
          <a:p>
            <a:pPr algn="ctr" indent="0" marL="0">
              <a:spcAft>
                <a:spcPts val="200"/>
              </a:spcAft>
              <a:buNone/>
            </a:pPr>
            <a:r>
              <a:rPr lang="en-US" sz="1000" dirty="0">
                <a:solidFill>
                  <a:schemeClr val="tx2"/>
                </a:solidFill>
              </a:rPr>
              <a:t>logins · queue</a:t>
            </a:r>
            <a:endParaRPr lang="en-US" sz="1200" dirty="0"/>
          </a:p>
          <a:p>
            <a:pPr algn="ctr" indent="0" marL="0">
              <a:spcAft>
                <a:spcPts val="200"/>
              </a:spcAft>
              <a:buNone/>
            </a:pPr>
            <a:r>
              <a:rPr lang="en-US" sz="1000" dirty="0">
                <a:solidFill>
                  <a:schemeClr val="tx2"/>
                </a:solidFill>
              </a:rPr>
              <a:t>masking · live updates</a:t>
            </a:r>
            <a:endParaRPr lang="en-US" sz="1200" dirty="0"/>
          </a:p>
          <a:p>
            <a:pPr algn="ctr" indent="0" marL="0">
              <a:spcAft>
                <a:spcPts val="200"/>
              </a:spcAft>
              <a:buNone/>
            </a:pPr>
            <a:r>
              <a:rPr lang="en-US" sz="1000" dirty="0">
                <a:solidFill>
                  <a:schemeClr val="tx2"/>
                </a:solidFill>
              </a:rPr>
              <a:t>audit</a:t>
            </a:r>
            <a:endParaRPr lang="en-US" sz="1200" dirty="0"/>
          </a:p>
        </p:txBody>
      </p:sp>
      <p:sp>
        <p:nvSpPr>
          <p:cNvPr id="26" name="MongoDB"/>
          <p:cNvSpPr/>
          <p:nvPr/>
        </p:nvSpPr>
        <p:spPr>
          <a:xfrm>
            <a:off x="4617720" y="4480560"/>
            <a:ext cx="1554480" cy="1097280"/>
          </a:xfrm>
          <a:prstGeom prst="roundRect">
            <a:avLst>
              <a:gd name="adj" fmla="val 6667"/>
            </a:avLst>
          </a:prstGeom>
          <a:solidFill>
            <a:schemeClr val="bg1"/>
          </a:solidFill>
          <a:ln w="12700">
            <a:solidFill>
              <a:srgbClr val="007680"/>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MongoDB</a:t>
            </a:r>
            <a:endParaRPr lang="en-US" sz="1200" dirty="0"/>
          </a:p>
          <a:p>
            <a:pPr algn="ctr" indent="0" marL="0">
              <a:spcAft>
                <a:spcPts val="200"/>
              </a:spcAft>
              <a:buNone/>
            </a:pPr>
            <a:r>
              <a:rPr lang="en-US" sz="1000" dirty="0">
                <a:solidFill>
                  <a:schemeClr val="tx2"/>
                </a:solidFill>
              </a:rPr>
              <a:t>accounts, transcripts, screenshots, audit</a:t>
            </a:r>
            <a:endParaRPr lang="en-US" sz="1200" dirty="0"/>
          </a:p>
        </p:txBody>
      </p:sp>
      <p:sp>
        <p:nvSpPr>
          <p:cNvPr id="27" name="Amazon Bedrock"/>
          <p:cNvSpPr/>
          <p:nvPr/>
        </p:nvSpPr>
        <p:spPr>
          <a:xfrm>
            <a:off x="7269480" y="2148840"/>
            <a:ext cx="2011680" cy="731520"/>
          </a:xfrm>
          <a:prstGeom prst="roundRect">
            <a:avLst>
              <a:gd name="adj" fmla="val 10000"/>
            </a:avLst>
          </a:prstGeom>
          <a:solidFill>
            <a:schemeClr val="bg1"/>
          </a:solidFill>
          <a:ln w="12700">
            <a:solidFill>
              <a:srgbClr val="0076A8"/>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Amazon Bedrock</a:t>
            </a:r>
            <a:endParaRPr lang="en-US" sz="1200" dirty="0"/>
          </a:p>
          <a:p>
            <a:pPr algn="ctr" indent="0" marL="0">
              <a:spcAft>
                <a:spcPts val="200"/>
              </a:spcAft>
              <a:buNone/>
            </a:pPr>
            <a:r>
              <a:rPr lang="en-US" sz="1000" dirty="0">
                <a:solidFill>
                  <a:schemeClr val="tx2"/>
                </a:solidFill>
              </a:rPr>
              <a:t>Claude Haiku 4.5, vision</a:t>
            </a:r>
            <a:endParaRPr lang="en-US" sz="1200" dirty="0"/>
          </a:p>
        </p:txBody>
      </p:sp>
      <p:sp>
        <p:nvSpPr>
          <p:cNvPr id="28" name="AgentCore Runtime"/>
          <p:cNvSpPr/>
          <p:nvPr/>
        </p:nvSpPr>
        <p:spPr>
          <a:xfrm>
            <a:off x="7269480" y="3246120"/>
            <a:ext cx="2011680" cy="914400"/>
          </a:xfrm>
          <a:prstGeom prst="roundRect">
            <a:avLst>
              <a:gd name="adj" fmla="val 8000"/>
            </a:avLst>
          </a:prstGeom>
          <a:solidFill>
            <a:schemeClr val="tx1"/>
          </a:solidFill>
          <a:ln/>
        </p:spPr>
        <p:txBody>
          <a:bodyPr wrap="square" lIns="76200" tIns="76200" rIns="76200" bIns="76200" rtlCol="0" anchor="ctr"/>
          <a:lstStyle/>
          <a:p>
            <a:pPr algn="ctr" indent="0" marL="0">
              <a:spcAft>
                <a:spcPts val="200"/>
              </a:spcAft>
              <a:buNone/>
            </a:pPr>
            <a:r>
              <a:rPr lang="en-US" sz="1200" b="1" dirty="0">
                <a:solidFill>
                  <a:schemeClr val="bg1"/>
                </a:solidFill>
              </a:rPr>
              <a:t>AgentCore Runtime</a:t>
            </a:r>
            <a:endParaRPr lang="en-US" sz="1200" dirty="0"/>
          </a:p>
          <a:p>
            <a:pPr algn="ctr" indent="0" marL="0">
              <a:spcAft>
                <a:spcPts val="200"/>
              </a:spcAft>
              <a:buNone/>
            </a:pPr>
            <a:r>
              <a:rPr lang="en-US" sz="1000" dirty="0">
                <a:solidFill>
                  <a:srgbClr val="D0D0CE"/>
                </a:solidFill>
              </a:rPr>
              <a:t>onboarding agent</a:t>
            </a:r>
            <a:endParaRPr lang="en-US" sz="1200" dirty="0"/>
          </a:p>
          <a:p>
            <a:pPr algn="ctr" indent="0" marL="0">
              <a:spcAft>
                <a:spcPts val="200"/>
              </a:spcAft>
              <a:buNone/>
            </a:pPr>
            <a:r>
              <a:rPr lang="en-US" sz="1000" dirty="0">
                <a:solidFill>
                  <a:srgbClr val="D0D0CE"/>
                </a:solidFill>
              </a:rPr>
              <a:t>ISC tools only</a:t>
            </a:r>
            <a:endParaRPr lang="en-US" sz="1200" dirty="0"/>
          </a:p>
        </p:txBody>
      </p:sp>
      <p:sp>
        <p:nvSpPr>
          <p:cNvPr id="29" name="AgentCore Identity"/>
          <p:cNvSpPr/>
          <p:nvPr/>
        </p:nvSpPr>
        <p:spPr>
          <a:xfrm>
            <a:off x="7269480" y="4572000"/>
            <a:ext cx="2011680" cy="822960"/>
          </a:xfrm>
          <a:prstGeom prst="roundRect">
            <a:avLst>
              <a:gd name="adj" fmla="val 8889"/>
            </a:avLst>
          </a:prstGeom>
          <a:solidFill>
            <a:schemeClr val="bg1"/>
          </a:solidFill>
          <a:ln w="12700">
            <a:solidFill>
              <a:srgbClr val="0076A8"/>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AgentCore Identity</a:t>
            </a:r>
            <a:endParaRPr lang="en-US" sz="1200" dirty="0"/>
          </a:p>
          <a:p>
            <a:pPr algn="ctr" indent="0" marL="0">
              <a:spcAft>
                <a:spcPts val="200"/>
              </a:spcAft>
              <a:buNone/>
            </a:pPr>
            <a:r>
              <a:rPr lang="en-US" sz="1000" dirty="0">
                <a:solidFill>
                  <a:schemeClr val="tx2"/>
                </a:solidFill>
              </a:rPr>
              <a:t>SailPoint credential per tenant</a:t>
            </a:r>
            <a:endParaRPr lang="en-US" sz="1200" dirty="0"/>
          </a:p>
        </p:txBody>
      </p:sp>
      <p:sp>
        <p:nvSpPr>
          <p:cNvPr id="30" name="SailPoint ISC"/>
          <p:cNvSpPr/>
          <p:nvPr/>
        </p:nvSpPr>
        <p:spPr>
          <a:xfrm>
            <a:off x="9829800" y="3246120"/>
            <a:ext cx="1874520" cy="914400"/>
          </a:xfrm>
          <a:prstGeom prst="roundRect">
            <a:avLst>
              <a:gd name="adj" fmla="val 8000"/>
            </a:avLst>
          </a:prstGeom>
          <a:solidFill>
            <a:schemeClr val="bg1"/>
          </a:solidFill>
          <a:ln w="12700">
            <a:solidFill>
              <a:schemeClr val="tx1"/>
            </a:solidFill>
            <a:prstDash val="solid"/>
          </a:ln>
        </p:spPr>
        <p:txBody>
          <a:bodyPr wrap="square" lIns="76200" tIns="76200" rIns="76200" bIns="76200" rtlCol="0" anchor="ctr"/>
          <a:lstStyle/>
          <a:p>
            <a:pPr algn="ctr" indent="0" marL="0">
              <a:spcAft>
                <a:spcPts val="200"/>
              </a:spcAft>
              <a:buNone/>
            </a:pPr>
            <a:r>
              <a:rPr lang="en-US" sz="1200" b="1" dirty="0">
                <a:solidFill>
                  <a:schemeClr val="tx1"/>
                </a:solidFill>
              </a:rPr>
              <a:t>SailPoint ISC</a:t>
            </a:r>
            <a:endParaRPr lang="en-US" sz="1200" dirty="0"/>
          </a:p>
          <a:p>
            <a:pPr algn="ctr" indent="0" marL="0">
              <a:spcAft>
                <a:spcPts val="200"/>
              </a:spcAft>
              <a:buNone/>
            </a:pPr>
            <a:r>
              <a:rPr lang="en-US" sz="1000" dirty="0">
                <a:solidFill>
                  <a:schemeClr val="tx2"/>
                </a:solidFill>
              </a:rPr>
              <a:t>your tenant</a:t>
            </a:r>
            <a:endParaRPr lang="en-US" sz="1200" dirty="0"/>
          </a:p>
        </p:txBody>
      </p:sp>
      <p:sp>
        <p:nvSpPr>
          <p:cNvPr id="31" name="Text 29"/>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200" dirty="0">
                <a:solidFill>
                  <a:schemeClr val="tx2"/>
                </a:solidFill>
              </a:rPr>
              <a:t>The agent has no AWS tools: the application owner makes every application-side change. SailPoint credentials are issued as short-lived tokens and are never stored on the cluster.</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Secure by design</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Controls that come with the product rather than being added by the customer.</a:t>
            </a:r>
            <a:endParaRPr lang="en-US" sz="1600" dirty="0"/>
          </a:p>
        </p:txBody>
      </p:sp>
      <p:sp>
        <p:nvSpPr>
          <p:cNvPr id="4" name="Secrets masked on entry"/>
          <p:cNvSpPr/>
          <p:nvPr/>
        </p:nvSpPr>
        <p:spPr>
          <a:xfrm>
            <a:off x="548640" y="1783080"/>
            <a:ext cx="3520440" cy="2011680"/>
          </a:xfrm>
          <a:prstGeom prst="roundRect">
            <a:avLst>
              <a:gd name="adj" fmla="val 3636"/>
            </a:avLst>
          </a:prstGeom>
          <a:solidFill>
            <a:schemeClr val="bg2"/>
          </a:solidFill>
          <a:ln/>
        </p:spPr>
      </p:sp>
      <p:sp>
        <p:nvSpPr>
          <p:cNvPr id="5" name="Marker 1"/>
          <p:cNvSpPr/>
          <p:nvPr/>
        </p:nvSpPr>
        <p:spPr>
          <a:xfrm>
            <a:off x="822960" y="20574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1371600" y="192024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Secrets masked on entry</a:t>
            </a:r>
            <a:endParaRPr lang="en-US" sz="1600" dirty="0"/>
          </a:p>
        </p:txBody>
      </p:sp>
      <p:sp>
        <p:nvSpPr>
          <p:cNvPr id="7" name="Text 5"/>
          <p:cNvSpPr txBox="1"/>
          <p:nvPr/>
        </p:nvSpPr>
        <p:spPr>
          <a:xfrm>
            <a:off x="822960" y="2697480"/>
            <a:ext cx="3017520" cy="1005840"/>
          </a:xfrm>
          <a:prstGeom prst="rect">
            <a:avLst/>
          </a:prstGeom>
          <a:noFill/>
          <a:ln/>
        </p:spPr>
        <p:txBody>
          <a:bodyPr wrap="square" lIns="0" tIns="0" rIns="0" bIns="0" rtlCol="0" anchor="t"/>
          <a:lstStyle/>
          <a:p>
            <a:pPr indent="0" marL="0">
              <a:buNone/>
            </a:pPr>
            <a:r>
              <a:rPr lang="en-US" sz="1400" dirty="0">
                <a:solidFill>
                  <a:schemeClr val="tx2"/>
                </a:solidFill>
              </a:rPr>
              <a:t>Keys, tokens, passwords and client secrets are masked before they are displayed, stored or sent to the agent.</a:t>
            </a:r>
            <a:endParaRPr lang="en-US" sz="1400" dirty="0"/>
          </a:p>
        </p:txBody>
      </p:sp>
      <p:sp>
        <p:nvSpPr>
          <p:cNvPr id="8" name="Screenshots screened first"/>
          <p:cNvSpPr/>
          <p:nvPr/>
        </p:nvSpPr>
        <p:spPr>
          <a:xfrm>
            <a:off x="4297680" y="1783080"/>
            <a:ext cx="3520440" cy="2011680"/>
          </a:xfrm>
          <a:prstGeom prst="roundRect">
            <a:avLst>
              <a:gd name="adj" fmla="val 3636"/>
            </a:avLst>
          </a:prstGeom>
          <a:solidFill>
            <a:schemeClr val="bg2"/>
          </a:solidFill>
          <a:ln/>
        </p:spPr>
      </p:sp>
      <p:sp>
        <p:nvSpPr>
          <p:cNvPr id="9" name="Marker 2"/>
          <p:cNvSpPr/>
          <p:nvPr/>
        </p:nvSpPr>
        <p:spPr>
          <a:xfrm>
            <a:off x="4572000" y="20574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 8"/>
          <p:cNvSpPr txBox="1"/>
          <p:nvPr/>
        </p:nvSpPr>
        <p:spPr>
          <a:xfrm>
            <a:off x="5120640" y="192024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Screenshots screened first</a:t>
            </a:r>
            <a:endParaRPr lang="en-US" sz="1600" dirty="0"/>
          </a:p>
        </p:txBody>
      </p:sp>
      <p:sp>
        <p:nvSpPr>
          <p:cNvPr id="11" name="Text 9"/>
          <p:cNvSpPr txBox="1"/>
          <p:nvPr/>
        </p:nvSpPr>
        <p:spPr>
          <a:xfrm>
            <a:off x="4572000" y="2697480"/>
            <a:ext cx="3017520" cy="1005840"/>
          </a:xfrm>
          <a:prstGeom prst="rect">
            <a:avLst/>
          </a:prstGeom>
          <a:noFill/>
          <a:ln/>
        </p:spPr>
        <p:txBody>
          <a:bodyPr wrap="square" lIns="0" tIns="0" rIns="0" bIns="0" rtlCol="0" anchor="t"/>
          <a:lstStyle/>
          <a:p>
            <a:pPr indent="0" marL="0">
              <a:buNone/>
            </a:pPr>
            <a:r>
              <a:rPr lang="en-US" sz="1400" dirty="0">
                <a:solidFill>
                  <a:schemeClr val="tx2"/>
                </a:solidFill>
              </a:rPr>
              <a:t>A likely secret holds the image for the uploader only, who is asked for a redacted copy.</a:t>
            </a:r>
            <a:endParaRPr lang="en-US" sz="1400" dirty="0"/>
          </a:p>
        </p:txBody>
      </p:sp>
      <p:sp>
        <p:nvSpPr>
          <p:cNvPr id="12" name="SailPoint credential in a vault"/>
          <p:cNvSpPr/>
          <p:nvPr/>
        </p:nvSpPr>
        <p:spPr>
          <a:xfrm>
            <a:off x="8046720" y="1783080"/>
            <a:ext cx="3520440" cy="2011680"/>
          </a:xfrm>
          <a:prstGeom prst="roundRect">
            <a:avLst>
              <a:gd name="adj" fmla="val 3636"/>
            </a:avLst>
          </a:prstGeom>
          <a:solidFill>
            <a:schemeClr val="bg2"/>
          </a:solidFill>
          <a:ln/>
        </p:spPr>
      </p:sp>
      <p:sp>
        <p:nvSpPr>
          <p:cNvPr id="13" name="Marker 3"/>
          <p:cNvSpPr/>
          <p:nvPr/>
        </p:nvSpPr>
        <p:spPr>
          <a:xfrm>
            <a:off x="8321040" y="20574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 12"/>
          <p:cNvSpPr txBox="1"/>
          <p:nvPr/>
        </p:nvSpPr>
        <p:spPr>
          <a:xfrm>
            <a:off x="8869680" y="192024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SailPoint credential in a vault</a:t>
            </a:r>
            <a:endParaRPr lang="en-US" sz="1600" dirty="0"/>
          </a:p>
        </p:txBody>
      </p:sp>
      <p:sp>
        <p:nvSpPr>
          <p:cNvPr id="15" name="Text 13"/>
          <p:cNvSpPr txBox="1"/>
          <p:nvPr/>
        </p:nvSpPr>
        <p:spPr>
          <a:xfrm>
            <a:off x="8321040" y="2697480"/>
            <a:ext cx="3017520" cy="1005840"/>
          </a:xfrm>
          <a:prstGeom prst="rect">
            <a:avLst/>
          </a:prstGeom>
          <a:noFill/>
          <a:ln/>
        </p:spPr>
        <p:txBody>
          <a:bodyPr wrap="square" lIns="0" tIns="0" rIns="0" bIns="0" rtlCol="0" anchor="t"/>
          <a:lstStyle/>
          <a:p>
            <a:pPr indent="0" marL="0">
              <a:buNone/>
            </a:pPr>
            <a:r>
              <a:rPr lang="en-US" sz="1400" dirty="0">
                <a:solidFill>
                  <a:schemeClr val="tx2"/>
                </a:solidFill>
              </a:rPr>
              <a:t>One per tenant in AgentCore Identity: never in chat, the database, a prompt or a log.</a:t>
            </a:r>
            <a:endParaRPr lang="en-US" sz="1400" dirty="0"/>
          </a:p>
        </p:txBody>
      </p:sp>
      <p:sp>
        <p:nvSpPr>
          <p:cNvPr id="16" name="Least privilege at every hop"/>
          <p:cNvSpPr/>
          <p:nvPr/>
        </p:nvSpPr>
        <p:spPr>
          <a:xfrm>
            <a:off x="548640" y="3977640"/>
            <a:ext cx="3520440" cy="2011680"/>
          </a:xfrm>
          <a:prstGeom prst="roundRect">
            <a:avLst>
              <a:gd name="adj" fmla="val 3636"/>
            </a:avLst>
          </a:prstGeom>
          <a:solidFill>
            <a:schemeClr val="bg2"/>
          </a:solidFill>
          <a:ln/>
        </p:spPr>
      </p:sp>
      <p:sp>
        <p:nvSpPr>
          <p:cNvPr id="17" name="Marker 4"/>
          <p:cNvSpPr/>
          <p:nvPr/>
        </p:nvSpPr>
        <p:spPr>
          <a:xfrm>
            <a:off x="822960" y="42519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8" name="Text 16"/>
          <p:cNvSpPr txBox="1"/>
          <p:nvPr/>
        </p:nvSpPr>
        <p:spPr>
          <a:xfrm>
            <a:off x="1371600" y="411480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Least privilege at every hop</a:t>
            </a:r>
            <a:endParaRPr lang="en-US" sz="1600" dirty="0"/>
          </a:p>
        </p:txBody>
      </p:sp>
      <p:sp>
        <p:nvSpPr>
          <p:cNvPr id="19" name="Text 17"/>
          <p:cNvSpPr txBox="1"/>
          <p:nvPr/>
        </p:nvSpPr>
        <p:spPr>
          <a:xfrm>
            <a:off x="822960" y="4892040"/>
            <a:ext cx="3017520" cy="1005840"/>
          </a:xfrm>
          <a:prstGeom prst="rect">
            <a:avLst/>
          </a:prstGeom>
          <a:noFill/>
          <a:ln/>
        </p:spPr>
        <p:txBody>
          <a:bodyPr wrap="square" lIns="0" tIns="0" rIns="0" bIns="0" rtlCol="0" anchor="t"/>
          <a:lstStyle/>
          <a:p>
            <a:pPr indent="0" marL="0">
              <a:buNone/>
            </a:pPr>
            <a:r>
              <a:rPr lang="en-US" sz="1400" dirty="0">
                <a:solidFill>
                  <a:schemeClr val="tx2"/>
                </a:solidFill>
              </a:rPr>
              <a:t>Browser to API by session; API to one agent runtime; agent to SailPoint with a source-admin token.</a:t>
            </a:r>
            <a:endParaRPr lang="en-US" sz="1400" dirty="0"/>
          </a:p>
        </p:txBody>
      </p:sp>
      <p:sp>
        <p:nvSpPr>
          <p:cNvPr id="20" name="Read-only by default"/>
          <p:cNvSpPr/>
          <p:nvPr/>
        </p:nvSpPr>
        <p:spPr>
          <a:xfrm>
            <a:off x="4297680" y="3977640"/>
            <a:ext cx="3520440" cy="2011680"/>
          </a:xfrm>
          <a:prstGeom prst="roundRect">
            <a:avLst>
              <a:gd name="adj" fmla="val 3636"/>
            </a:avLst>
          </a:prstGeom>
          <a:solidFill>
            <a:schemeClr val="bg2"/>
          </a:solidFill>
          <a:ln/>
        </p:spPr>
      </p:sp>
      <p:sp>
        <p:nvSpPr>
          <p:cNvPr id="21" name="Marker 5"/>
          <p:cNvSpPr/>
          <p:nvPr/>
        </p:nvSpPr>
        <p:spPr>
          <a:xfrm>
            <a:off x="4572000" y="42519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2" name="Text 20"/>
          <p:cNvSpPr txBox="1"/>
          <p:nvPr/>
        </p:nvSpPr>
        <p:spPr>
          <a:xfrm>
            <a:off x="5120640" y="411480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Read-only by default</a:t>
            </a:r>
            <a:endParaRPr lang="en-US" sz="1600" dirty="0"/>
          </a:p>
        </p:txBody>
      </p:sp>
      <p:sp>
        <p:nvSpPr>
          <p:cNvPr id="23" name="Text 21"/>
          <p:cNvSpPr txBox="1"/>
          <p:nvPr/>
        </p:nvSpPr>
        <p:spPr>
          <a:xfrm>
            <a:off x="4572000" y="4892040"/>
            <a:ext cx="3017520" cy="1005840"/>
          </a:xfrm>
          <a:prstGeom prst="rect">
            <a:avLst/>
          </a:prstGeom>
          <a:noFill/>
          <a:ln/>
        </p:spPr>
        <p:txBody>
          <a:bodyPr wrap="square" lIns="0" tIns="0" rIns="0" bIns="0" rtlCol="0" anchor="t"/>
          <a:lstStyle/>
          <a:p>
            <a:pPr indent="0" marL="0">
              <a:buNone/>
            </a:pPr>
            <a:r>
              <a:rPr lang="en-US" sz="1400" dirty="0">
                <a:solidFill>
                  <a:schemeClr val="tx2"/>
                </a:solidFill>
              </a:rPr>
              <a:t>The application grants only what aggregation needs. Provisioning only on explicit request.</a:t>
            </a:r>
            <a:endParaRPr lang="en-US" sz="1400" dirty="0"/>
          </a:p>
        </p:txBody>
      </p:sp>
      <p:sp>
        <p:nvSpPr>
          <p:cNvPr id="24" name="Every change attributed"/>
          <p:cNvSpPr/>
          <p:nvPr/>
        </p:nvSpPr>
        <p:spPr>
          <a:xfrm>
            <a:off x="8046720" y="3977640"/>
            <a:ext cx="3520440" cy="2011680"/>
          </a:xfrm>
          <a:prstGeom prst="roundRect">
            <a:avLst>
              <a:gd name="adj" fmla="val 3636"/>
            </a:avLst>
          </a:prstGeom>
          <a:solidFill>
            <a:schemeClr val="bg2"/>
          </a:solidFill>
          <a:ln/>
        </p:spPr>
      </p:sp>
      <p:sp>
        <p:nvSpPr>
          <p:cNvPr id="25" name="Marker 6"/>
          <p:cNvSpPr/>
          <p:nvPr/>
        </p:nvSpPr>
        <p:spPr>
          <a:xfrm>
            <a:off x="8321040" y="42519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6" name="Text 24"/>
          <p:cNvSpPr txBox="1"/>
          <p:nvPr/>
        </p:nvSpPr>
        <p:spPr>
          <a:xfrm>
            <a:off x="8869680" y="4114800"/>
            <a:ext cx="2514600" cy="685800"/>
          </a:xfrm>
          <a:prstGeom prst="rect">
            <a:avLst/>
          </a:prstGeom>
          <a:noFill/>
          <a:ln/>
        </p:spPr>
        <p:txBody>
          <a:bodyPr wrap="square" lIns="0" tIns="0" rIns="0" bIns="0" rtlCol="0" anchor="ctr"/>
          <a:lstStyle/>
          <a:p>
            <a:pPr indent="0" marL="0">
              <a:buNone/>
            </a:pPr>
            <a:r>
              <a:rPr lang="en-US" sz="1600" b="1" dirty="0">
                <a:solidFill>
                  <a:schemeClr val="tx1"/>
                </a:solidFill>
              </a:rPr>
              <a:t>Every change attributed</a:t>
            </a:r>
            <a:endParaRPr lang="en-US" sz="1600" dirty="0"/>
          </a:p>
        </p:txBody>
      </p:sp>
      <p:sp>
        <p:nvSpPr>
          <p:cNvPr id="27" name="Text 25"/>
          <p:cNvSpPr txBox="1"/>
          <p:nvPr/>
        </p:nvSpPr>
        <p:spPr>
          <a:xfrm>
            <a:off x="8321040" y="4892040"/>
            <a:ext cx="3017520" cy="1005840"/>
          </a:xfrm>
          <a:prstGeom prst="rect">
            <a:avLst/>
          </a:prstGeom>
          <a:noFill/>
          <a:ln/>
        </p:spPr>
        <p:txBody>
          <a:bodyPr wrap="square" lIns="0" tIns="0" rIns="0" bIns="0" rtlCol="0" anchor="t"/>
          <a:lstStyle/>
          <a:p>
            <a:pPr indent="0" marL="0">
              <a:buNone/>
            </a:pPr>
            <a:r>
              <a:rPr lang="en-US" sz="1400" dirty="0">
                <a:solidFill>
                  <a:schemeClr val="tx2"/>
                </a:solidFill>
              </a:rPr>
              <a:t>Each SailPoint action is recorded with what changed, who ordered it, when, and the result.</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Built for every connector</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AWS SaaS is available first. Each later connector type is a playbook added to the product, not a new project.</a:t>
            </a:r>
            <a:endParaRPr lang="en-US" sz="1600" dirty="0"/>
          </a:p>
        </p:txBody>
      </p:sp>
      <p:sp>
        <p:nvSpPr>
          <p:cNvPr id="4" name="AWS SaaS panel"/>
          <p:cNvSpPr/>
          <p:nvPr/>
        </p:nvSpPr>
        <p:spPr>
          <a:xfrm>
            <a:off x="548640" y="1783080"/>
            <a:ext cx="4754880" cy="4114800"/>
          </a:xfrm>
          <a:prstGeom prst="roundRect">
            <a:avLst>
              <a:gd name="adj" fmla="val 1778"/>
            </a:avLst>
          </a:prstGeom>
          <a:solidFill>
            <a:schemeClr val="tx1"/>
          </a:solidFill>
          <a:ln/>
        </p:spPr>
      </p:sp>
      <p:sp>
        <p:nvSpPr>
          <p:cNvPr id="5" name="Text 3"/>
          <p:cNvSpPr/>
          <p:nvPr/>
        </p:nvSpPr>
        <p:spPr>
          <a:xfrm>
            <a:off x="868680" y="2103120"/>
            <a:ext cx="1600200" cy="329184"/>
          </a:xfrm>
          <a:prstGeom prst="roundRect">
            <a:avLst>
              <a:gd name="adj" fmla="val 13889"/>
            </a:avLst>
          </a:prstGeom>
          <a:solidFill>
            <a:schemeClr val="accent1"/>
          </a:solidFill>
          <a:ln/>
        </p:spPr>
        <p:txBody>
          <a:bodyPr wrap="square" lIns="0" tIns="0" rIns="0" bIns="0" rtlCol="0" anchor="ctr"/>
          <a:lstStyle/>
          <a:p>
            <a:pPr algn="ctr" indent="0" marL="0">
              <a:buNone/>
            </a:pPr>
            <a:r>
              <a:rPr lang="en-US" sz="1200" b="1" dirty="0">
                <a:solidFill>
                  <a:schemeClr val="tx1"/>
                </a:solidFill>
              </a:rPr>
              <a:t>Available in v1</a:t>
            </a:r>
            <a:endParaRPr lang="en-US" sz="1200" dirty="0"/>
          </a:p>
        </p:txBody>
      </p:sp>
      <p:sp>
        <p:nvSpPr>
          <p:cNvPr id="6" name="Text 4"/>
          <p:cNvSpPr txBox="1"/>
          <p:nvPr/>
        </p:nvSpPr>
        <p:spPr>
          <a:xfrm>
            <a:off x="868680" y="2606040"/>
            <a:ext cx="4114800" cy="548640"/>
          </a:xfrm>
          <a:prstGeom prst="rect">
            <a:avLst/>
          </a:prstGeom>
          <a:noFill/>
          <a:ln/>
        </p:spPr>
        <p:txBody>
          <a:bodyPr wrap="square" lIns="0" tIns="0" rIns="0" bIns="0" rtlCol="0" anchor="ctr"/>
          <a:lstStyle/>
          <a:p>
            <a:pPr indent="0" marL="0">
              <a:buNone/>
            </a:pPr>
            <a:r>
              <a:rPr lang="en-US" sz="2800" b="1" dirty="0">
                <a:solidFill>
                  <a:schemeClr val="bg1"/>
                </a:solidFill>
              </a:rPr>
              <a:t>AWS SaaS</a:t>
            </a:r>
            <a:endParaRPr lang="en-US" sz="2800" dirty="0"/>
          </a:p>
        </p:txBody>
      </p:sp>
      <p:sp>
        <p:nvSpPr>
          <p:cNvPr id="7" name="Text 5"/>
          <p:cNvSpPr txBox="1"/>
          <p:nvPr/>
        </p:nvSpPr>
        <p:spPr>
          <a:xfrm>
            <a:off x="868680" y="3291840"/>
            <a:ext cx="4206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AWS IAM users, groups and policies</a:t>
            </a:r>
            <a:endParaRPr lang="en-US" sz="1500" dirty="0"/>
          </a:p>
          <a:p>
            <a:pPr marL="342900" indent="-342900">
              <a:spcAft>
                <a:spcPts val="800"/>
              </a:spcAft>
              <a:buSzPct val="100000"/>
              <a:buChar char="•"/>
            </a:pPr>
            <a:r>
              <a:rPr lang="en-US" sz="1500" dirty="0">
                <a:solidFill>
                  <a:schemeClr val="bg1"/>
                </a:solidFill>
              </a:rPr>
              <a:t>Optional discovery of Bedrock and AgentCore AI agents</a:t>
            </a:r>
            <a:endParaRPr lang="en-US" sz="1500" dirty="0"/>
          </a:p>
          <a:p>
            <a:pPr marL="342900" indent="-342900">
              <a:spcAft>
                <a:spcPts val="800"/>
              </a:spcAft>
              <a:buSzPct val="100000"/>
              <a:buChar char="•"/>
            </a:pPr>
            <a:r>
              <a:rPr lang="en-US" sz="1500" dirty="0">
                <a:solidFill>
                  <a:schemeClr val="bg1"/>
                </a:solidFill>
              </a:rPr>
              <a:t>Built on a setup process already proven on two SailPoint tenants</a:t>
            </a:r>
            <a:endParaRPr lang="en-US" sz="1500" dirty="0"/>
          </a:p>
          <a:p>
            <a:pPr marL="342900" indent="-342900">
              <a:spcAft>
                <a:spcPts val="800"/>
              </a:spcAft>
              <a:buSzPct val="100000"/>
              <a:buChar char="•"/>
            </a:pPr>
            <a:r>
              <a:rPr lang="en-US" sz="1500" dirty="0">
                <a:solidFill>
                  <a:schemeClr val="bg1"/>
                </a:solidFill>
              </a:rPr>
              <a:t>Read-only access by default</a:t>
            </a:r>
            <a:endParaRPr lang="en-US" sz="1500" dirty="0"/>
          </a:p>
        </p:txBody>
      </p:sp>
      <p:sp>
        <p:nvSpPr>
          <p:cNvPr id="8" name="Text 6"/>
          <p:cNvSpPr txBox="1"/>
          <p:nvPr/>
        </p:nvSpPr>
        <p:spPr>
          <a:xfrm>
            <a:off x="5760720" y="1783080"/>
            <a:ext cx="2743200" cy="320040"/>
          </a:xfrm>
          <a:prstGeom prst="rect">
            <a:avLst/>
          </a:prstGeom>
          <a:noFill/>
          <a:ln/>
        </p:spPr>
        <p:txBody>
          <a:bodyPr wrap="square" lIns="0" tIns="0" rIns="0" bIns="0" rtlCol="0" anchor="ctr"/>
          <a:lstStyle/>
          <a:p>
            <a:pPr indent="0" marL="0">
              <a:buNone/>
            </a:pPr>
            <a:r>
              <a:rPr lang="en-US" sz="1400" b="1" dirty="0">
                <a:solidFill>
                  <a:schemeClr val="accent6"/>
                </a:solidFill>
              </a:rPr>
              <a:t>Planned</a:t>
            </a:r>
            <a:endParaRPr lang="en-US" sz="1400" dirty="0"/>
          </a:p>
        </p:txBody>
      </p:sp>
      <p:sp>
        <p:nvSpPr>
          <p:cNvPr id="9" name="Text 7"/>
          <p:cNvSpPr/>
          <p:nvPr/>
        </p:nvSpPr>
        <p:spPr>
          <a:xfrm>
            <a:off x="5760720" y="224028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Microsoft Entra ID</a:t>
            </a:r>
            <a:endParaRPr lang="en-US" sz="1300" dirty="0"/>
          </a:p>
        </p:txBody>
      </p:sp>
      <p:sp>
        <p:nvSpPr>
          <p:cNvPr id="10" name="Text 8"/>
          <p:cNvSpPr/>
          <p:nvPr/>
        </p:nvSpPr>
        <p:spPr>
          <a:xfrm>
            <a:off x="7726680" y="224028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Active Directory</a:t>
            </a:r>
            <a:endParaRPr lang="en-US" sz="1300" dirty="0"/>
          </a:p>
        </p:txBody>
      </p:sp>
      <p:sp>
        <p:nvSpPr>
          <p:cNvPr id="11" name="Text 9"/>
          <p:cNvSpPr/>
          <p:nvPr/>
        </p:nvSpPr>
        <p:spPr>
          <a:xfrm>
            <a:off x="9692640" y="224028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Google Cloud</a:t>
            </a:r>
            <a:endParaRPr lang="en-US" sz="1300" dirty="0"/>
          </a:p>
        </p:txBody>
      </p:sp>
      <p:sp>
        <p:nvSpPr>
          <p:cNvPr id="12" name="Text 10"/>
          <p:cNvSpPr/>
          <p:nvPr/>
        </p:nvSpPr>
        <p:spPr>
          <a:xfrm>
            <a:off x="5760720" y="306324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Microsoft Azure</a:t>
            </a:r>
            <a:endParaRPr lang="en-US" sz="1300" dirty="0"/>
          </a:p>
        </p:txBody>
      </p:sp>
      <p:sp>
        <p:nvSpPr>
          <p:cNvPr id="13" name="Text 11"/>
          <p:cNvSpPr/>
          <p:nvPr/>
        </p:nvSpPr>
        <p:spPr>
          <a:xfrm>
            <a:off x="7726680" y="306324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Okta</a:t>
            </a:r>
            <a:endParaRPr lang="en-US" sz="1300" dirty="0"/>
          </a:p>
        </p:txBody>
      </p:sp>
      <p:sp>
        <p:nvSpPr>
          <p:cNvPr id="14" name="Text 12"/>
          <p:cNvSpPr/>
          <p:nvPr/>
        </p:nvSpPr>
        <p:spPr>
          <a:xfrm>
            <a:off x="9692640" y="306324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ServiceNow</a:t>
            </a:r>
            <a:endParaRPr lang="en-US" sz="1300" dirty="0"/>
          </a:p>
        </p:txBody>
      </p:sp>
      <p:sp>
        <p:nvSpPr>
          <p:cNvPr id="15" name="Text 13"/>
          <p:cNvSpPr/>
          <p:nvPr/>
        </p:nvSpPr>
        <p:spPr>
          <a:xfrm>
            <a:off x="5760720" y="388620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Salesforce</a:t>
            </a:r>
            <a:endParaRPr lang="en-US" sz="1300" dirty="0"/>
          </a:p>
        </p:txBody>
      </p:sp>
      <p:sp>
        <p:nvSpPr>
          <p:cNvPr id="16" name="Text 14"/>
          <p:cNvSpPr/>
          <p:nvPr/>
        </p:nvSpPr>
        <p:spPr>
          <a:xfrm>
            <a:off x="7726680" y="388620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Workday</a:t>
            </a:r>
            <a:endParaRPr lang="en-US" sz="1300" dirty="0"/>
          </a:p>
        </p:txBody>
      </p:sp>
      <p:sp>
        <p:nvSpPr>
          <p:cNvPr id="17" name="Text 15"/>
          <p:cNvSpPr/>
          <p:nvPr/>
        </p:nvSpPr>
        <p:spPr>
          <a:xfrm>
            <a:off x="9692640" y="3886200"/>
            <a:ext cx="1828800" cy="640080"/>
          </a:xfrm>
          <a:prstGeom prst="roundRect">
            <a:avLst>
              <a:gd name="adj" fmla="val 8571"/>
            </a:avLst>
          </a:prstGeom>
          <a:solidFill>
            <a:schemeClr val="bg1"/>
          </a:solidFill>
          <a:ln w="12700">
            <a:solidFill>
              <a:srgbClr val="D0D0CE"/>
            </a:solidFill>
          </a:ln>
        </p:spPr>
        <p:txBody>
          <a:bodyPr wrap="square" lIns="50800" tIns="50800" rIns="50800" bIns="50800" rtlCol="0" anchor="ctr"/>
          <a:lstStyle/>
          <a:p>
            <a:pPr algn="ctr" indent="0" marL="0">
              <a:buNone/>
            </a:pPr>
            <a:r>
              <a:rPr lang="en-US" sz="1300" dirty="0">
                <a:solidFill>
                  <a:schemeClr val="tx1"/>
                </a:solidFill>
              </a:rPr>
              <a:t>Web Services (REST)</a:t>
            </a:r>
            <a:endParaRPr lang="en-US" sz="1300" dirty="0"/>
          </a:p>
        </p:txBody>
      </p:sp>
      <p:sp>
        <p:nvSpPr>
          <p:cNvPr id="18" name="Text 16"/>
          <p:cNvSpPr/>
          <p:nvPr/>
        </p:nvSpPr>
        <p:spPr>
          <a:xfrm>
            <a:off x="5760720" y="4800600"/>
            <a:ext cx="5760720" cy="1097280"/>
          </a:xfrm>
          <a:prstGeom prst="roundRect">
            <a:avLst>
              <a:gd name="adj" fmla="val 6667"/>
            </a:avLst>
          </a:prstGeom>
          <a:solidFill>
            <a:schemeClr val="bg2"/>
          </a:solidFill>
          <a:ln/>
        </p:spPr>
        <p:txBody>
          <a:bodyPr wrap="square" lIns="152400" tIns="152400" rIns="152400" bIns="152400" rtlCol="0" anchor="ctr"/>
          <a:lstStyle/>
          <a:p>
            <a:pPr indent="0" marL="0">
              <a:buNone/>
            </a:pPr>
            <a:r>
              <a:rPr lang="en-US" sz="1400" b="1" dirty="0">
                <a:solidFill>
                  <a:schemeClr val="tx1"/>
                </a:solidFill>
              </a:rPr>
              <a:t>Each new type adds four things: </a:t>
            </a:r>
            <a:pPr indent="0" marL="0">
              <a:buNone/>
            </a:pPr>
            <a:r>
              <a:rPr lang="en-US" sz="1400" dirty="0">
                <a:solidFill>
                  <a:schemeClr val="tx2"/>
                </a:solidFill>
              </a:rPr>
              <a:t>setup steps, source settings, checks and known failures. Sessions, roles, chat, audit and secret handling stay the same.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914400" y="347472"/>
            <a:ext cx="10698480" cy="685800"/>
          </a:xfrm>
          <a:prstGeom prst="rect">
            <a:avLst/>
          </a:prstGeom>
          <a:noFill/>
          <a:ln/>
        </p:spPr>
        <p:txBody>
          <a:bodyPr wrap="square" lIns="0" tIns="0" rIns="0" bIns="0" rtlCol="0" anchor="ctr"/>
          <a:lstStyle/>
          <a:p>
            <a:pPr indent="0" marL="0">
              <a:buNone/>
            </a:pPr>
            <a:r>
              <a:rPr lang="en-US" sz="3600" b="1" dirty="0">
                <a:solidFill>
                  <a:schemeClr val="tx1"/>
                </a:solidFill>
              </a:rPr>
              <a:t>What a pilot looks like</a:t>
            </a:r>
            <a:endParaRPr lang="en-US" sz="3600" dirty="0"/>
          </a:p>
        </p:txBody>
      </p:sp>
      <p:sp>
        <p:nvSpPr>
          <p:cNvPr id="3" name="Text 1"/>
          <p:cNvSpPr/>
          <p:nvPr>
            <p:ph idx="103" type="body" hasCustomPrompt="1"/>
          </p:nvPr>
        </p:nvSpPr>
        <p:spPr>
          <a:xfrm>
            <a:off x="914400" y="1024128"/>
            <a:ext cx="10698480" cy="457200"/>
          </a:xfrm>
          <a:prstGeom prst="rect">
            <a:avLst/>
          </a:prstGeom>
          <a:noFill/>
          <a:ln/>
        </p:spPr>
        <p:txBody>
          <a:bodyPr wrap="square" lIns="0" tIns="0" rIns="0" bIns="0" rtlCol="0" anchor="t"/>
          <a:lstStyle/>
          <a:p>
            <a:pPr indent="0" marL="0">
              <a:buNone/>
            </a:pPr>
            <a:r>
              <a:rPr lang="en-US" sz="1600" dirty="0">
                <a:solidFill>
                  <a:schemeClr val="tx2"/>
                </a:solidFill>
              </a:rPr>
              <a:t>Start with one SailPoint tenant and one AWS organization, then grow by connector type.</a:t>
            </a:r>
            <a:endParaRPr lang="en-US" sz="1600" dirty="0"/>
          </a:p>
        </p:txBody>
      </p:sp>
      <p:sp>
        <p:nvSpPr>
          <p:cNvPr id="4" name="Phase Set up"/>
          <p:cNvSpPr/>
          <p:nvPr/>
        </p:nvSpPr>
        <p:spPr>
          <a:xfrm>
            <a:off x="548640" y="1783080"/>
            <a:ext cx="3520440" cy="2286000"/>
          </a:xfrm>
          <a:prstGeom prst="roundRect">
            <a:avLst>
              <a:gd name="adj" fmla="val 3200"/>
            </a:avLst>
          </a:prstGeom>
          <a:solidFill>
            <a:schemeClr val="bg2"/>
          </a:solidFill>
          <a:ln/>
        </p:spPr>
      </p:sp>
      <p:sp>
        <p:nvSpPr>
          <p:cNvPr id="5" name="Marker 1"/>
          <p:cNvSpPr/>
          <p:nvPr/>
        </p:nvSpPr>
        <p:spPr>
          <a:xfrm>
            <a:off x="822960" y="20574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17320" y="20574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Set up</a:t>
            </a:r>
            <a:endParaRPr lang="en-US" sz="1800" dirty="0"/>
          </a:p>
        </p:txBody>
      </p:sp>
      <p:sp>
        <p:nvSpPr>
          <p:cNvPr id="7" name="Text 5"/>
          <p:cNvSpPr txBox="1"/>
          <p:nvPr/>
        </p:nvSpPr>
        <p:spPr>
          <a:xfrm>
            <a:off x="822960" y="2651760"/>
            <a:ext cx="3017520" cy="1280160"/>
          </a:xfrm>
          <a:prstGeom prst="rect">
            <a:avLst/>
          </a:prstGeom>
          <a:noFill/>
          <a:ln/>
        </p:spPr>
        <p:txBody>
          <a:bodyPr wrap="square" lIns="0" tIns="0" rIns="0" bIns="0" rtlCol="0" anchor="t"/>
          <a:lstStyle/>
          <a:p>
            <a:pPr indent="0" marL="0">
              <a:buNone/>
            </a:pPr>
            <a:r>
              <a:rPr lang="en-US" sz="1400" dirty="0">
                <a:solidFill>
                  <a:schemeClr val="tx2"/>
                </a:solidFill>
              </a:rPr>
              <a:t>Deploy the web app, API and database to your cluster and the agent to your AWS account, then register your SailPoint tenant.</a:t>
            </a:r>
            <a:endParaRPr lang="en-US" sz="1400" dirty="0"/>
          </a:p>
        </p:txBody>
      </p:sp>
      <p:sp>
        <p:nvSpPr>
          <p:cNvPr id="8" name="Shape 6"/>
          <p:cNvSpPr/>
          <p:nvPr/>
        </p:nvSpPr>
        <p:spPr>
          <a:xfrm>
            <a:off x="4069080" y="3017520"/>
            <a:ext cx="228600" cy="0"/>
          </a:xfrm>
          <a:prstGeom prst="line">
            <a:avLst/>
          </a:prstGeom>
          <a:noFill/>
          <a:ln w="19050">
            <a:solidFill>
              <a:schemeClr val="accent6"/>
            </a:solidFill>
            <a:prstDash val="solid"/>
            <a:tailEnd type="triangle"/>
          </a:ln>
        </p:spPr>
      </p:sp>
      <p:sp>
        <p:nvSpPr>
          <p:cNvPr id="9" name="Phase Onboard"/>
          <p:cNvSpPr/>
          <p:nvPr/>
        </p:nvSpPr>
        <p:spPr>
          <a:xfrm>
            <a:off x="4297680" y="1783080"/>
            <a:ext cx="3520440" cy="2286000"/>
          </a:xfrm>
          <a:prstGeom prst="roundRect">
            <a:avLst>
              <a:gd name="adj" fmla="val 3200"/>
            </a:avLst>
          </a:prstGeom>
          <a:solidFill>
            <a:schemeClr val="bg2"/>
          </a:solidFill>
          <a:ln/>
        </p:spPr>
      </p:sp>
      <p:sp>
        <p:nvSpPr>
          <p:cNvPr id="10" name="Marker 2"/>
          <p:cNvSpPr/>
          <p:nvPr/>
        </p:nvSpPr>
        <p:spPr>
          <a:xfrm>
            <a:off x="4572000" y="20574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5166360" y="20574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Onboard</a:t>
            </a:r>
            <a:endParaRPr lang="en-US" sz="1800" dirty="0"/>
          </a:p>
        </p:txBody>
      </p:sp>
      <p:sp>
        <p:nvSpPr>
          <p:cNvPr id="12" name="Text 10"/>
          <p:cNvSpPr txBox="1"/>
          <p:nvPr/>
        </p:nvSpPr>
        <p:spPr>
          <a:xfrm>
            <a:off x="4572000" y="2651760"/>
            <a:ext cx="3017520" cy="1280160"/>
          </a:xfrm>
          <a:prstGeom prst="rect">
            <a:avLst/>
          </a:prstGeom>
          <a:noFill/>
          <a:ln/>
        </p:spPr>
        <p:txBody>
          <a:bodyPr wrap="square" lIns="0" tIns="0" rIns="0" bIns="0" rtlCol="0" anchor="t"/>
          <a:lstStyle/>
          <a:p>
            <a:pPr indent="0" marL="0">
              <a:buNone/>
            </a:pPr>
            <a:r>
              <a:rPr lang="en-US" sz="1400" dirty="0">
                <a:solidFill>
                  <a:schemeClr val="tx2"/>
                </a:solidFill>
              </a:rPr>
              <a:t>Your IAM engineer and an AWS owner onboard their first AWS organization together, measured against the four targets.</a:t>
            </a:r>
            <a:endParaRPr lang="en-US" sz="1400" dirty="0"/>
          </a:p>
        </p:txBody>
      </p:sp>
      <p:sp>
        <p:nvSpPr>
          <p:cNvPr id="13" name="Shape 11"/>
          <p:cNvSpPr/>
          <p:nvPr/>
        </p:nvSpPr>
        <p:spPr>
          <a:xfrm>
            <a:off x="7818120" y="3017520"/>
            <a:ext cx="228600" cy="0"/>
          </a:xfrm>
          <a:prstGeom prst="line">
            <a:avLst/>
          </a:prstGeom>
          <a:noFill/>
          <a:ln w="19050">
            <a:solidFill>
              <a:schemeClr val="accent6"/>
            </a:solidFill>
            <a:prstDash val="solid"/>
            <a:tailEnd type="triangle"/>
          </a:ln>
        </p:spPr>
      </p:sp>
      <p:sp>
        <p:nvSpPr>
          <p:cNvPr id="14" name="Phase Expand"/>
          <p:cNvSpPr/>
          <p:nvPr/>
        </p:nvSpPr>
        <p:spPr>
          <a:xfrm>
            <a:off x="8046720" y="1783080"/>
            <a:ext cx="3520440" cy="2286000"/>
          </a:xfrm>
          <a:prstGeom prst="roundRect">
            <a:avLst>
              <a:gd name="adj" fmla="val 3200"/>
            </a:avLst>
          </a:prstGeom>
          <a:solidFill>
            <a:schemeClr val="bg2"/>
          </a:solidFill>
          <a:ln/>
        </p:spPr>
      </p:sp>
      <p:sp>
        <p:nvSpPr>
          <p:cNvPr id="15" name="Marker 3"/>
          <p:cNvSpPr/>
          <p:nvPr/>
        </p:nvSpPr>
        <p:spPr>
          <a:xfrm>
            <a:off x="8321040" y="20574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8915400" y="20574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Expand</a:t>
            </a:r>
            <a:endParaRPr lang="en-US" sz="1800" dirty="0"/>
          </a:p>
        </p:txBody>
      </p:sp>
      <p:sp>
        <p:nvSpPr>
          <p:cNvPr id="17" name="Text 15"/>
          <p:cNvSpPr txBox="1"/>
          <p:nvPr/>
        </p:nvSpPr>
        <p:spPr>
          <a:xfrm>
            <a:off x="8321040" y="2651760"/>
            <a:ext cx="3017520" cy="1280160"/>
          </a:xfrm>
          <a:prstGeom prst="rect">
            <a:avLst/>
          </a:prstGeom>
          <a:noFill/>
          <a:ln/>
        </p:spPr>
        <p:txBody>
          <a:bodyPr wrap="square" lIns="0" tIns="0" rIns="0" bIns="0" rtlCol="0" anchor="t"/>
          <a:lstStyle/>
          <a:p>
            <a:pPr indent="0" marL="0">
              <a:buNone/>
            </a:pPr>
            <a:r>
              <a:rPr lang="en-US" sz="1400" dirty="0">
                <a:solidFill>
                  <a:schemeClr val="tx2"/>
                </a:solidFill>
              </a:rPr>
              <a:t>Pick the next connector type from the roadmap and roll it out the same way.</a:t>
            </a:r>
            <a:endParaRPr lang="en-US" sz="1400" dirty="0"/>
          </a:p>
        </p:txBody>
      </p:sp>
      <p:sp>
        <p:nvSpPr>
          <p:cNvPr id="18" name="What you provide"/>
          <p:cNvSpPr/>
          <p:nvPr/>
        </p:nvSpPr>
        <p:spPr>
          <a:xfrm>
            <a:off x="548640" y="4297680"/>
            <a:ext cx="7269480" cy="1691640"/>
          </a:xfrm>
          <a:prstGeom prst="roundRect">
            <a:avLst>
              <a:gd name="adj" fmla="val 4324"/>
            </a:avLst>
          </a:prstGeom>
          <a:solidFill>
            <a:schemeClr val="bg1"/>
          </a:solidFill>
          <a:ln w="12700">
            <a:solidFill>
              <a:srgbClr val="D0D0CE"/>
            </a:solidFill>
            <a:prstDash val="solid"/>
          </a:ln>
        </p:spPr>
      </p:sp>
      <p:sp>
        <p:nvSpPr>
          <p:cNvPr id="19" name="Text 17"/>
          <p:cNvSpPr txBox="1"/>
          <p:nvPr/>
        </p:nvSpPr>
        <p:spPr>
          <a:xfrm>
            <a:off x="822960" y="4434840"/>
            <a:ext cx="3657600" cy="320040"/>
          </a:xfrm>
          <a:prstGeom prst="rect">
            <a:avLst/>
          </a:prstGeom>
          <a:noFill/>
          <a:ln/>
        </p:spPr>
        <p:txBody>
          <a:bodyPr wrap="square" lIns="0" tIns="0" rIns="0" bIns="0" rtlCol="0" anchor="ctr"/>
          <a:lstStyle/>
          <a:p>
            <a:pPr indent="0" marL="0">
              <a:buNone/>
            </a:pPr>
            <a:r>
              <a:rPr lang="en-US" sz="1500" b="1" dirty="0">
                <a:solidFill>
                  <a:schemeClr val="tx1"/>
                </a:solidFill>
              </a:rPr>
              <a:t>What you provide</a:t>
            </a:r>
            <a:endParaRPr lang="en-US" sz="1500" dirty="0"/>
          </a:p>
        </p:txBody>
      </p:sp>
      <p:sp>
        <p:nvSpPr>
          <p:cNvPr id="20" name="Text 18"/>
          <p:cNvSpPr txBox="1"/>
          <p:nvPr/>
        </p:nvSpPr>
        <p:spPr>
          <a:xfrm>
            <a:off x="822960" y="4846320"/>
            <a:ext cx="32004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Kubernetes cluster</a:t>
            </a:r>
            <a:endParaRPr lang="en-US" sz="1400" dirty="0"/>
          </a:p>
          <a:p>
            <a:pPr marL="342900" indent="-342900">
              <a:spcAft>
                <a:spcPts val="400"/>
              </a:spcAft>
              <a:buSzPct val="100000"/>
              <a:buChar char="•"/>
            </a:pPr>
            <a:r>
              <a:rPr lang="en-US" sz="1400" dirty="0">
                <a:solidFill>
                  <a:schemeClr val="tx2"/>
                </a:solidFill>
              </a:rPr>
              <a:t>An AWS account with Bedrock and AgentCore</a:t>
            </a:r>
            <a:endParaRPr lang="en-US" sz="1400" dirty="0"/>
          </a:p>
        </p:txBody>
      </p:sp>
      <p:sp>
        <p:nvSpPr>
          <p:cNvPr id="21" name="Text 19"/>
          <p:cNvSpPr txBox="1"/>
          <p:nvPr/>
        </p:nvSpPr>
        <p:spPr>
          <a:xfrm>
            <a:off x="4114800" y="484632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SailPoint ISC tenant with a source-admin API client</a:t>
            </a:r>
            <a:endParaRPr lang="en-US" sz="1400" dirty="0"/>
          </a:p>
          <a:p>
            <a:pPr marL="342900" indent="-342900">
              <a:spcAft>
                <a:spcPts val="400"/>
              </a:spcAft>
              <a:buSzPct val="100000"/>
              <a:buChar char="•"/>
            </a:pPr>
            <a:r>
              <a:rPr lang="en-US" sz="1400" dirty="0">
                <a:solidFill>
                  <a:schemeClr val="tx2"/>
                </a:solidFill>
              </a:rPr>
              <a:t>One IAM engineer, one application owner</a:t>
            </a:r>
            <a:endParaRPr lang="en-US" sz="1400" dirty="0"/>
          </a:p>
        </p:txBody>
      </p:sp>
      <p:sp>
        <p:nvSpPr>
          <p:cNvPr id="22" name="Pilot terms"/>
          <p:cNvSpPr/>
          <p:nvPr/>
        </p:nvSpPr>
        <p:spPr>
          <a:xfrm>
            <a:off x="8092440" y="4297680"/>
            <a:ext cx="3520440" cy="1691640"/>
          </a:xfrm>
          <a:prstGeom prst="roundRect">
            <a:avLst>
              <a:gd name="adj" fmla="val 4324"/>
            </a:avLst>
          </a:prstGeom>
          <a:solidFill>
            <a:schemeClr val="tx1"/>
          </a:solidFill>
          <a:ln/>
        </p:spPr>
      </p:sp>
      <p:sp>
        <p:nvSpPr>
          <p:cNvPr id="23" name="Text 21"/>
          <p:cNvSpPr txBox="1"/>
          <p:nvPr/>
        </p:nvSpPr>
        <p:spPr>
          <a:xfrm>
            <a:off x="8366760" y="4434840"/>
            <a:ext cx="3017520" cy="320040"/>
          </a:xfrm>
          <a:prstGeom prst="rect">
            <a:avLst/>
          </a:prstGeom>
          <a:noFill/>
          <a:ln/>
        </p:spPr>
        <p:txBody>
          <a:bodyPr wrap="square" lIns="0" tIns="0" rIns="0" bIns="0" rtlCol="0" anchor="ctr"/>
          <a:lstStyle/>
          <a:p>
            <a:pPr indent="0" marL="0">
              <a:buNone/>
            </a:pPr>
            <a:r>
              <a:rPr lang="en-US" sz="1500" b="1" dirty="0">
                <a:solidFill>
                  <a:schemeClr val="accent1"/>
                </a:solidFill>
              </a:rPr>
              <a:t>Pilot terms</a:t>
            </a:r>
            <a:endParaRPr lang="en-US" sz="1500" dirty="0"/>
          </a:p>
        </p:txBody>
      </p:sp>
      <p:sp>
        <p:nvSpPr>
          <p:cNvPr id="24" name="Text 22"/>
          <p:cNvSpPr txBox="1"/>
          <p:nvPr/>
        </p:nvSpPr>
        <p:spPr>
          <a:xfrm>
            <a:off x="8366760" y="4846320"/>
            <a:ext cx="3017520" cy="914400"/>
          </a:xfrm>
          <a:prstGeom prst="rect">
            <a:avLst/>
          </a:prstGeom>
          <a:noFill/>
          <a:ln/>
        </p:spPr>
        <p:txBody>
          <a:bodyPr wrap="square" lIns="0" tIns="0" rIns="0" bIns="0" rtlCol="0" anchor="t"/>
          <a:lstStyle/>
          <a:p>
            <a:pPr indent="0" marL="0">
              <a:buNone/>
            </a:pPr>
            <a:r>
              <a:rPr lang="en-US" sz="1600" dirty="0">
                <a:solidFill>
                  <a:schemeClr val="bg1"/>
                </a:solidFill>
              </a:rPr>
              <a:t>[PILOT DURATION]</a:t>
            </a:r>
            <a:endParaRPr lang="en-US" sz="1600" dirty="0"/>
          </a:p>
          <a:p>
            <a:pPr indent="0" marL="0">
              <a:buNone/>
            </a:pPr>
            <a:r>
              <a:rPr lang="en-US" sz="1600" dirty="0">
                <a:solidFill>
                  <a:schemeClr val="bg1"/>
                </a:solidFill>
              </a:rPr>
              <a:t>[PILOT PRICE]</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10698480" cy="457200"/>
          </a:xfrm>
          <a:prstGeom prst="rect">
            <a:avLst/>
          </a:prstGeom>
          <a:noFill/>
          <a:ln/>
        </p:spPr>
        <p:txBody>
          <a:bodyPr wrap="square" lIns="0" tIns="0" rIns="0" bIns="0" rtlCol="0"/>
          <a:lstStyle/>
          <a:p>
            <a:pPr indent="0" marL="0">
              <a:buNone/>
            </a:pPr>
            <a:r>
              <a:rPr lang="en-US" sz="1600" b="1" dirty="0">
                <a:solidFill>
                  <a:schemeClr val="accent1"/>
                </a:solidFill>
              </a:rPr>
              <a:t>Next step</a:t>
            </a:r>
            <a:endParaRPr lang="en-US" sz="1600" dirty="0"/>
          </a:p>
        </p:txBody>
      </p:sp>
      <p:sp>
        <p:nvSpPr>
          <p:cNvPr id="3" name="Text 0"/>
          <p:cNvSpPr/>
          <p:nvPr>
            <p:ph idx="101" type="title" hasCustomPrompt="1"/>
          </p:nvPr>
        </p:nvSpPr>
        <p:spPr>
          <a:xfrm>
            <a:off x="731520" y="2103120"/>
            <a:ext cx="10698480" cy="1737360"/>
          </a:xfrm>
          <a:prstGeom prst="rect">
            <a:avLst/>
          </a:prstGeom>
          <a:noFill/>
          <a:ln/>
        </p:spPr>
        <p:txBody>
          <a:bodyPr wrap="square" lIns="0" tIns="0" rIns="0" bIns="0" rtlCol="0" anchor="t"/>
          <a:lstStyle/>
          <a:p>
            <a:pPr indent="0" marL="0">
              <a:buNone/>
            </a:pPr>
            <a:r>
              <a:rPr lang="en-US" sz="4400" b="1" dirty="0">
                <a:solidFill>
                  <a:schemeClr val="bg1"/>
                </a:solidFill>
              </a:rPr>
              <a:t>Let's onboard your first application together</a:t>
            </a:r>
            <a:endParaRPr lang="en-US" sz="4400" dirty="0"/>
          </a:p>
        </p:txBody>
      </p:sp>
      <p:sp>
        <p:nvSpPr>
          <p:cNvPr id="4" name="Text 0"/>
          <p:cNvSpPr/>
          <p:nvPr>
            <p:ph idx="102" type="body" hasCustomPrompt="1"/>
          </p:nvPr>
        </p:nvSpPr>
        <p:spPr>
          <a:xfrm>
            <a:off x="731520" y="4023360"/>
            <a:ext cx="9601200" cy="1097280"/>
          </a:xfrm>
          <a:prstGeom prst="rect">
            <a:avLst/>
          </a:prstGeom>
          <a:noFill/>
          <a:ln/>
        </p:spPr>
        <p:txBody>
          <a:bodyPr wrap="square" lIns="0" tIns="0" rIns="0" bIns="0" rtlCol="0" anchor="t"/>
          <a:lstStyle/>
          <a:p>
            <a:pPr indent="0" marL="0">
              <a:buNone/>
            </a:pPr>
            <a:r>
              <a:rPr lang="en-US" sz="1800" dirty="0">
                <a:solidFill>
                  <a:srgbClr val="D0D0CE"/>
                </a:solidFill>
              </a:rPr>
              <a:t>Choose one SailPoint tenant and one AWS organization, and we will run the first live session with your team.</a:t>
            </a:r>
            <a:endParaRPr lang="en-US" sz="1800" dirty="0"/>
          </a:p>
        </p:txBody>
      </p:sp>
      <p:sp>
        <p:nvSpPr>
          <p:cNvPr id="5" name="Text 0"/>
          <p:cNvSpPr/>
          <p:nvPr>
            <p:ph idx="103" type="body" hasCustomPrompt="1"/>
          </p:nvPr>
        </p:nvSpPr>
        <p:spPr>
          <a:xfrm>
            <a:off x="731520" y="5852160"/>
            <a:ext cx="10698480" cy="365760"/>
          </a:xfrm>
          <a:prstGeom prst="rect">
            <a:avLst/>
          </a:prstGeom>
          <a:noFill/>
          <a:ln/>
        </p:spPr>
        <p:txBody>
          <a:bodyPr wrap="square" lIns="0" tIns="0" rIns="0" bIns="0" rtlCol="0"/>
          <a:lstStyle/>
          <a:p>
            <a:pPr indent="0" marL="0">
              <a:buNone/>
            </a:pPr>
            <a:r>
              <a:rPr lang="en-US" sz="1200" dirty="0">
                <a:solidFill>
                  <a:srgbClr val="A7A8AA"/>
                </a:solidFill>
              </a:rPr>
              <a:t>[CONTACT NAME]  ·  [EMAIL]</a:t>
            </a:r>
            <a:endParaRPr lang="en-US" sz="1200" dirty="0"/>
          </a:p>
        </p:txBody>
      </p:sp>
    </p:spTree>
  </p:cSld>
  <p:clrMapOvr>
    <a:masterClrMapping/>
  </p:clrMapOvr>
</p:sld>
</file>

<file path=ppt/theme/theme1.xml><?xml version="1.0" encoding="utf-8"?>
<a:theme xmlns:a="http://schemas.openxmlformats.org/drawingml/2006/main" name="ISC Onboarding Agent">
  <a:themeElements>
    <a:clrScheme name="ISC Onboarding Agent">
      <a:dk1>
        <a:srgbClr val="000000"/>
      </a:dk1>
      <a:lt1>
        <a:srgbClr val="FFFFFF"/>
      </a:lt1>
      <a:dk2>
        <a:srgbClr val="404040"/>
      </a:dk2>
      <a:lt2>
        <a:srgbClr val="F2F2F2"/>
      </a:lt2>
      <a:accent1>
        <a:srgbClr val="86BC25"/>
      </a:accent1>
      <a:accent2>
        <a:srgbClr val="0076A8"/>
      </a:accent2>
      <a:accent3>
        <a:srgbClr val="007680"/>
      </a:accent3>
      <a:accent4>
        <a:srgbClr val="26890D"/>
      </a:accent4>
      <a:accent5>
        <a:srgbClr val="DA291C"/>
      </a:accent5>
      <a:accent6>
        <a:srgbClr val="53565A"/>
      </a:accent6>
      <a:hlink>
        <a:srgbClr val="0076A8"/>
      </a:hlink>
      <a:folHlink>
        <a:srgbClr val="005587"/>
      </a:folHlink>
    </a:clrScheme>
    <a:fontScheme name="ISC Onboarding Agent">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SailPoint ISC Application Onboarding Agent</dc:title>
  <dc:subject>Sell deck for spec 001</dc:subject>
  <dc:creator>PptxGenJS</dc:creator>
  <cp:lastModifiedBy>PptxGenJS</cp:lastModifiedBy>
  <cp:revision>1</cp:revision>
  <dcterms:created xsi:type="dcterms:W3CDTF">2026-10-07T07:27:51Z</dcterms:created>
  <dcterms:modified xsi:type="dcterms:W3CDTF">2026-10-07T07:27:51Z</dcterms:modified>
</cp:coreProperties>
</file>